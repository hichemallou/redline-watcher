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a1f933f97e40d1" /><Relationship Type="http://schemas.openxmlformats.org/officeDocument/2006/relationships/extended-properties" Target="/docProps/app.xml" Id="R978f6fff5b3b45d4" /><Relationship Type="http://schemas.openxmlformats.org/officeDocument/2006/relationships/officeDocument" Target="/ppt/presentation.xml" Id="Rf6339bff22574307" /></Relationships>
</file>

<file path=ppt/presentation.xml><?xml version="1.0" encoding="utf-8"?>
<p:presentation xmlns:p="http://schemas.openxmlformats.org/presentationml/2006/main">
  <p:sldMasterIdLst>
    <p:sldMasterId xmlns:r="http://schemas.openxmlformats.org/officeDocument/2006/relationships" id="2147483648" r:id="Rd798abf9f17b4413"/>
  </p:sldMasterIdLst>
  <p:notesMasterIdLst>
    <p:notesMasterId xmlns:r="http://schemas.openxmlformats.org/officeDocument/2006/relationships" r:id="R89a421e1031e4e03"/>
  </p:notesMasterIdLst>
  <p:sldIdLst>
    <p:sldId xmlns:r="http://schemas.openxmlformats.org/officeDocument/2006/relationships" id="256" r:id="Rfb64168c0d1741c4"/>
    <p:sldId xmlns:r="http://schemas.openxmlformats.org/officeDocument/2006/relationships" id="257" r:id="Rd0347be90f6c4b2a"/>
    <p:sldId xmlns:r="http://schemas.openxmlformats.org/officeDocument/2006/relationships" id="258" r:id="Rfa7df387af194ec6"/>
    <p:sldId xmlns:r="http://schemas.openxmlformats.org/officeDocument/2006/relationships" id="259" r:id="R036cefad31c74d5d"/>
    <p:sldId xmlns:r="http://schemas.openxmlformats.org/officeDocument/2006/relationships" id="260" r:id="Reb4d67f7093d4dc4"/>
    <p:sldId xmlns:r="http://schemas.openxmlformats.org/officeDocument/2006/relationships" id="261" r:id="Rc54f8a2c74174bb8"/>
    <p:sldId xmlns:r="http://schemas.openxmlformats.org/officeDocument/2006/relationships" id="262" r:id="R4e5d72449a2241f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10ae67400e47e5" /><Relationship Type="http://schemas.openxmlformats.org/officeDocument/2006/relationships/slideMaster" Target="/ppt/slideMasters/slideMaster1.xml" Id="Rd798abf9f17b4413" /><Relationship Type="http://schemas.openxmlformats.org/officeDocument/2006/relationships/notesMaster" Target="/ppt/notesMasters/notesMaster1.xml" Id="R89a421e1031e4e03" /><Relationship Type="http://schemas.openxmlformats.org/officeDocument/2006/relationships/presProps" Target="/ppt/presProps.xml" Id="Raa231182523a478c" /><Relationship Type="http://schemas.openxmlformats.org/officeDocument/2006/relationships/tableStyles" Target="/ppt/tableStyles.xml" Id="R1119ede298844cc8" /><Relationship Type="http://schemas.openxmlformats.org/officeDocument/2006/relationships/slide" Target="/ppt/slides/slide1.xml" Id="Rfb64168c0d1741c4" /><Relationship Type="http://schemas.openxmlformats.org/officeDocument/2006/relationships/slide" Target="/ppt/slides/slide2.xml" Id="Rd0347be90f6c4b2a" /><Relationship Type="http://schemas.openxmlformats.org/officeDocument/2006/relationships/slide" Target="/ppt/slides/slide3.xml" Id="Rfa7df387af194ec6" /><Relationship Type="http://schemas.openxmlformats.org/officeDocument/2006/relationships/slide" Target="/ppt/slides/slide4.xml" Id="R036cefad31c74d5d" /><Relationship Type="http://schemas.openxmlformats.org/officeDocument/2006/relationships/slide" Target="/ppt/slides/slide5.xml" Id="Reb4d67f7093d4dc4" /><Relationship Type="http://schemas.openxmlformats.org/officeDocument/2006/relationships/slide" Target="/ppt/slides/slide6.xml" Id="Rc54f8a2c74174bb8" /><Relationship Type="http://schemas.openxmlformats.org/officeDocument/2006/relationships/slide" Target="/ppt/slides/slide7.xml" Id="R4e5d72449a2241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7758414e9448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c2a753deee4f2c" /><Relationship Type="http://schemas.openxmlformats.org/officeDocument/2006/relationships/notesMaster" Target="/ppt/notesMasters/notesMaster1.xml" Id="R778b99a3a2b242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37ea2cd1784829" /><Relationship Type="http://schemas.openxmlformats.org/officeDocument/2006/relationships/notesMaster" Target="/ppt/notesMasters/notesMaster1.xml" Id="R6d56127e6bac46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eb77f2aaec4406" /><Relationship Type="http://schemas.openxmlformats.org/officeDocument/2006/relationships/notesMaster" Target="/ppt/notesMasters/notesMaster1.xml" Id="Re50948a1ef2849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118108cf7d4815" /><Relationship Type="http://schemas.openxmlformats.org/officeDocument/2006/relationships/notesMaster" Target="/ppt/notesMasters/notesMaster1.xml" Id="R523e1ac83a4642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a7d5834def4a14" /><Relationship Type="http://schemas.openxmlformats.org/officeDocument/2006/relationships/notesMaster" Target="/ppt/notesMasters/notesMaster1.xml" Id="R682a84d83b6f42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cdb30578ca43cf" /><Relationship Type="http://schemas.openxmlformats.org/officeDocument/2006/relationships/notesMaster" Target="/ppt/notesMasters/notesMaster1.xml" Id="Rca8831442c0e4d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db8a63c24a47fe" /><Relationship Type="http://schemas.openxmlformats.org/officeDocument/2006/relationships/notesMaster" Target="/ppt/notesMasters/notesMaster1.xml" Id="Rd000cca54cdc4a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built ClawWatch to turn a security dataset into something an engineer can operate. The same event remains traceable from its original JSON record, through replay and investigation, to a team notification. The current prototype runs locally and does not depend on a hosted database or model API.</a:t>
            </a:r>
          </a:p>
          <a:p xmlns:a="http://schemas.openxmlformats.org/drawingml/2006/main">
            <a:r>
              <a:t/>
            </a:r>
          </a:p>
          <a:p xmlns:a="http://schemas.openxmlformats.org/drawingml/2006/main">
            <a:r>
              <a:t>Source: log_backend/docs/clawwatch-slide-content.md and repository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Rendering JSON addresses only the display layer. A useful security demo needs verified input, controllable event timing, durable state, a human decision point, and a reliable path to the team. These capabilities let the system reproduce and explain what happened.</a:t>
            </a:r>
          </a:p>
          <a:p xmlns:a="http://schemas.openxmlformats.org/drawingml/2006/main">
            <a:r>
              <a:t/>
            </a:r>
          </a:p>
          <a:p xmlns:a="http://schemas.openxmlformats.org/drawingml/2006/main">
            <a:r>
              <a:t>Source: log_backend/docs/clawwatch-slide-content.md and repository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SQLite is the source of truth for imported events and operating state. The replay controller writes each emitted event and its cursor in one transaction. The dashboard reads bounded snapshots from the same store. Review cards, notes, stage changes, and successful Slack sends return to the activity history.</a:t>
            </a:r>
          </a:p>
          <a:p xmlns:a="http://schemas.openxmlformats.org/drawingml/2006/main">
            <a:r>
              <a:t/>
            </a:r>
          </a:p>
          <a:p xmlns:a="http://schemas.openxmlformats.org/drawingml/2006/main">
            <a:r>
              <a:t>Source: log_backend/docs/clawwatch-slide-content.md and repository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review boundary is deliberate. An engineer selects an event and creates a card before the critical review notifier can act on it. The server checks every 30 seconds even if the browser is closed. The same check is available from a dashboard button or CLI script. Only critical cards in New or Investigating qualify.</a:t>
            </a:r>
          </a:p>
          <a:p xmlns:a="http://schemas.openxmlformats.org/drawingml/2006/main">
            <a:r>
              <a:t/>
            </a:r>
          </a:p>
          <a:p xmlns:a="http://schemas.openxmlformats.org/drawingml/2006/main">
            <a:r>
              <a:t>Source: log_backend/docs/clawwatch-slide-content.md and repository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partial import resumes from its last committed batch. A replay cannot advance its cursor without storing the event. A stale browser cannot overwrite a newer review revision. Slack checks share one lock, and successful delivery is recorded for future checks. The narrow crash boundary means the prototype provides at-least-once delivery.</a:t>
            </a:r>
          </a:p>
          <a:p xmlns:a="http://schemas.openxmlformats.org/drawingml/2006/main">
            <a:r>
              <a:t/>
            </a:r>
          </a:p>
          <a:p xmlns:a="http://schemas.openxmlformats.org/drawingml/2006/main">
            <a:r>
              <a:t>Source: log_backend/docs/clawwatch-slide-content.md and repository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corpus replay persisted 100,000 unique sequences using a controllable test clock. The 99.9 events per second figure comes from a separate real-time 1,000-event run. The dataset is synthetic, and its severity, risk, and threat fields are source annotations rather than ClawWatch detections.</a:t>
            </a:r>
          </a:p>
          <a:p xmlns:a="http://schemas.openxmlformats.org/drawingml/2006/main">
            <a:r>
              <a:t/>
            </a:r>
          </a:p>
          <a:p xmlns:a="http://schemas.openxmlformats.org/drawingml/2006/main">
            <a:r>
              <a:t>Source: log_backend/docs/clawwatch-slide-content.md and repository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remote script is a one-way bridge that passes a complete critical JSON record through NemoClaw and OpenClaw to Slack. The planned connection makes ClawWatch the coordinator and system of record. The backend sends a bounded request to the redline-watcher-3 sandbox, receives a structured assessment, verifies every cited event ID against the request, stores the result beside the review card, and keeps human approval before Slack delivery. NemoClaw owns isolated execution. ClawWatch owns evidence selection, request state, validation, retries, audit, and routing.</a:t>
            </a:r>
          </a:p>
          <a:p xmlns:a="http://schemas.openxmlformats.org/drawingml/2006/main">
            <a:r>
              <a:t/>
            </a:r>
          </a:p>
          <a:p xmlns:a="http://schemas.openxmlformats.org/drawingml/2006/main">
            <a:r>
              <a:t>Source: log_backend/docs/clawwatch-slide-content.md and repository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fb96d6e2b243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8f259ace0441ae" /><Relationship Type="http://schemas.openxmlformats.org/officeDocument/2006/relationships/slideLayout" Target="/ppt/slideLayouts/slideLayout1.xml" Id="Rf783b64ec5704b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83b64ec5704b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6cf346b6cc4fd9" /><Relationship Type="http://schemas.openxmlformats.org/officeDocument/2006/relationships/image" Target="/ppt/media/image.png" Id="Rfbf846cfc1f94964" /><Relationship Type="http://schemas.openxmlformats.org/officeDocument/2006/relationships/notesSlide" Target="/ppt/notesSlides/notesSlide1.xml" Id="Rc8be8590a32c47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7817ffd62274d4a" /><Relationship Type="http://schemas.openxmlformats.org/officeDocument/2006/relationships/notesSlide" Target="/ppt/notesSlides/notesSlide2.xml" Id="R5a30fab615d54c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814bda681274f89" /><Relationship Type="http://schemas.openxmlformats.org/officeDocument/2006/relationships/notesSlide" Target="/ppt/notesSlides/notesSlide3.xml" Id="R44c57b6fef134a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5d87a279f264587" /><Relationship Type="http://schemas.openxmlformats.org/officeDocument/2006/relationships/notesSlide" Target="/ppt/notesSlides/notesSlide4.xml" Id="Ree280287531747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53c315623a1428e" /><Relationship Type="http://schemas.openxmlformats.org/officeDocument/2006/relationships/notesSlide" Target="/ppt/notesSlides/notesSlide5.xml" Id="R9b9955672e0a4d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902b3c94f944ff2" /><Relationship Type="http://schemas.openxmlformats.org/officeDocument/2006/relationships/notesSlide" Target="/ppt/notesSlides/notesSlide6.xml" Id="Rc4c6513b10a747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d5c64aee3734505" /><Relationship Type="http://schemas.openxmlformats.org/officeDocument/2006/relationships/notesSlide" Target="/ppt/notesSlides/notesSlide7.xml" Id="R1c0747fa2f57426a" /></Relationships>
</file>

<file path=ppt/slides/slide1.xml><?xml version="1.0" encoding="utf-8"?>
<p:sld xmlns:p="http://schemas.openxmlformats.org/presentationml/2006/main">
  <p:cSld>
    <p:bg>
      <p:bgPr>
        <a:solidFill xmlns:a="http://schemas.openxmlformats.org/drawingml/2006/main">
          <a:srgbClr val="090D1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23576D5-0305-450E-8286-F1D0E5E4C8D1}"/>
              </a:ext>
            </a:extLst>
          </p:cNvPr>
          <p:cNvSpPr>
            <a:spLocks xmlns:a="http://schemas.openxmlformats.org/drawingml/2006/main" noGrp="1"/>
          </p:cNvSpPr>
          <p:nvPr/>
        </p:nvSpPr>
        <p:spPr>
          <a:xfrm xmlns:a="http://schemas.openxmlformats.org/drawingml/2006/main">
            <a:off x="590550" y="428625"/>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9F43"/>
                </a:solidFill>
                <a:latin typeface="Avenir Next"/>
                <a:ea typeface="Avenir Next"/>
                <a:cs typeface="Avenir Next"/>
              </a:defRPr>
            </a:pPr>
            <a:r>
              <a:rPr sz="975" b="1">
                <a:solidFill>
                  <a:srgbClr val="FF9F43"/>
                </a:solidFill>
                <a:latin typeface="Avenir Next"/>
                <a:ea typeface="Avenir Next"/>
                <a:cs typeface="Avenir Next"/>
              </a:rPr>
              <a:t>SYS / CLW-01</a:t>
            </a:r>
          </a:p>
        </p:txBody>
      </p:sp>
      <p:sp>
        <p:nvSpPr>
          <p:cNvPr id="2" name="">
            <a:extLst xmlns:a="http://schemas.openxmlformats.org/drawingml/2006/main">
              <a:ext uri="{FF2B5EF4-FFF2-40B4-BE49-F238E27FC236}">
                <a16:creationId xmlns:a16="http://schemas.microsoft.com/office/drawing/2014/main" id="{5E66D895-DE73-46CE-9214-A40019F94BD6}"/>
              </a:ext>
            </a:extLst>
          </p:cNvPr>
          <p:cNvSpPr>
            <a:spLocks xmlns:a="http://schemas.openxmlformats.org/drawingml/2006/main" noGrp="1"/>
          </p:cNvSpPr>
          <p:nvPr/>
        </p:nvSpPr>
        <p:spPr>
          <a:xfrm xmlns:a="http://schemas.openxmlformats.org/drawingml/2006/main">
            <a:off x="590550" y="1000125"/>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FFFF"/>
                </a:solidFill>
                <a:latin typeface="Avenir Next"/>
                <a:ea typeface="Avenir Next"/>
                <a:cs typeface="Avenir Next"/>
              </a:defRPr>
            </a:pPr>
            <a:r>
              <a:rPr sz="4350" b="1">
                <a:solidFill>
                  <a:srgbClr val="FFFFFF"/>
                </a:solidFill>
                <a:latin typeface="Avenir Next"/>
                <a:ea typeface="Avenir Next"/>
                <a:cs typeface="Avenir Next"/>
              </a:rPr>
              <a:t>CLAWWATCH</a:t>
            </a:r>
          </a:p>
        </p:txBody>
      </p:sp>
      <p:sp>
        <p:nvSpPr>
          <p:cNvPr id="3" name="">
            <a:extLst xmlns:a="http://schemas.openxmlformats.org/drawingml/2006/main">
              <a:ext uri="{FF2B5EF4-FFF2-40B4-BE49-F238E27FC236}">
                <a16:creationId xmlns:a16="http://schemas.microsoft.com/office/drawing/2014/main" id="{BC1769B1-8865-4C65-9D5E-09A72C79B160}"/>
              </a:ext>
            </a:extLst>
          </p:cNvPr>
          <p:cNvSpPr>
            <a:spLocks xmlns:a="http://schemas.openxmlformats.org/drawingml/2006/main" noGrp="1"/>
          </p:cNvSpPr>
          <p:nvPr/>
        </p:nvSpPr>
        <p:spPr>
          <a:xfrm xmlns:a="http://schemas.openxmlformats.org/drawingml/2006/main">
            <a:off x="590550" y="1628775"/>
            <a:ext cx="4000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8D9AA8"/>
                </a:solidFill>
                <a:latin typeface="Avenir Next"/>
                <a:ea typeface="Avenir Next"/>
                <a:cs typeface="Avenir Next"/>
              </a:defRPr>
            </a:pPr>
            <a:r>
              <a:rPr sz="2925" b="1">
                <a:solidFill>
                  <a:srgbClr val="8D9AA8"/>
                </a:solidFill>
                <a:latin typeface="Avenir Next"/>
                <a:ea typeface="Avenir Next"/>
                <a:cs typeface="Avenir Next"/>
              </a:rPr>
              <a:t>/ LOG LAB</a:t>
            </a:r>
          </a:p>
        </p:txBody>
      </p:sp>
      <p:sp>
        <p:nvSpPr>
          <p:cNvPr id="4" name="">
            <a:extLst xmlns:a="http://schemas.openxmlformats.org/drawingml/2006/main">
              <a:ext uri="{FF2B5EF4-FFF2-40B4-BE49-F238E27FC236}">
                <a16:creationId xmlns:a16="http://schemas.microsoft.com/office/drawing/2014/main" id="{21106DA4-B09D-4B72-9A36-D2D91D103246}"/>
              </a:ext>
            </a:extLst>
          </p:cNvPr>
          <p:cNvSpPr>
            <a:spLocks xmlns:a="http://schemas.openxmlformats.org/drawingml/2006/main" noGrp="1"/>
          </p:cNvSpPr>
          <p:nvPr/>
        </p:nvSpPr>
        <p:spPr>
          <a:xfrm xmlns:a="http://schemas.openxmlformats.org/drawingml/2006/main">
            <a:off x="609600" y="2362200"/>
            <a:ext cx="361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E8EDF3"/>
                </a:solidFill>
                <a:latin typeface="Avenir Next"/>
                <a:ea typeface="Avenir Next"/>
                <a:cs typeface="Avenir Next"/>
              </a:defRPr>
            </a:pPr>
            <a:r>
              <a:rPr sz="1950" b="1">
                <a:solidFill>
                  <a:srgbClr val="E8EDF3"/>
                </a:solidFill>
                <a:latin typeface="Avenir Next"/>
                <a:ea typeface="Avenir Next"/>
                <a:cs typeface="Avenir Next"/>
              </a:rPr>
              <a:t>Live SIEM investigation workflow</a:t>
            </a:r>
          </a:p>
        </p:txBody>
      </p:sp>
      <p:sp>
        <p:nvSpPr>
          <p:cNvPr id="5" name="">
            <a:extLst xmlns:a="http://schemas.openxmlformats.org/drawingml/2006/main">
              <a:ext uri="{FF2B5EF4-FFF2-40B4-BE49-F238E27FC236}">
                <a16:creationId xmlns:a16="http://schemas.microsoft.com/office/drawing/2014/main" id="{B494EED8-5B84-4C99-BA09-003B0039C0C6}"/>
              </a:ext>
            </a:extLst>
          </p:cNvPr>
          <p:cNvSpPr>
            <a:spLocks xmlns:a="http://schemas.openxmlformats.org/drawingml/2006/main" noGrp="1"/>
          </p:cNvSpPr>
          <p:nvPr/>
        </p:nvSpPr>
        <p:spPr>
          <a:xfrm xmlns:a="http://schemas.openxmlformats.org/drawingml/2006/main">
            <a:off x="609600" y="3143250"/>
            <a:ext cx="361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8D9AA8"/>
                </a:solidFill>
                <a:latin typeface="Avenir Next"/>
                <a:ea typeface="Avenir Next"/>
                <a:cs typeface="Avenir Next"/>
              </a:defRPr>
            </a:pPr>
            <a:r>
              <a:rPr sz="1500" b="0">
                <a:solidFill>
                  <a:srgbClr val="8D9AA8"/>
                </a:solidFill>
                <a:latin typeface="Avenir Next"/>
                <a:ea typeface="Avenir Next"/>
                <a:cs typeface="Avenir Next"/>
              </a:rPr>
              <a:t>Verified ingestion, controlled replay, persistent review, and audited Slack delivery.</a:t>
            </a:r>
          </a:p>
        </p:txBody>
      </p:sp>
      <p:sp>
        <p:nvSpPr>
          <p:cNvPr id="6" name="">
            <a:extLst xmlns:a="http://schemas.openxmlformats.org/drawingml/2006/main">
              <a:ext uri="{FF2B5EF4-FFF2-40B4-BE49-F238E27FC236}">
                <a16:creationId xmlns:a16="http://schemas.microsoft.com/office/drawing/2014/main" id="{7E123009-B96E-45A6-9C71-EE43FBCE51FE}"/>
              </a:ext>
            </a:extLst>
          </p:cNvPr>
          <p:cNvSpPr>
            <a:spLocks xmlns:a="http://schemas.openxmlformats.org/drawingml/2006/main" noGrp="1"/>
          </p:cNvSpPr>
          <p:nvPr/>
        </p:nvSpPr>
        <p:spPr>
          <a:xfrm xmlns:a="http://schemas.openxmlformats.org/drawingml/2006/main">
            <a:off x="590550" y="46291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FF9F43"/>
                </a:solidFill>
                <a:latin typeface="Avenir Next"/>
                <a:ea typeface="Avenir Next"/>
                <a:cs typeface="Avenir Next"/>
              </a:defRPr>
            </a:pPr>
            <a:r>
              <a:rPr sz="4050" b="1">
                <a:solidFill>
                  <a:srgbClr val="FF9F43"/>
                </a:solidFill>
                <a:latin typeface="Avenir Next"/>
                <a:ea typeface="Avenir Next"/>
                <a:cs typeface="Avenir Next"/>
              </a:rPr>
              <a:t>100,000</a:t>
            </a:r>
          </a:p>
        </p:txBody>
      </p:sp>
      <p:sp>
        <p:nvSpPr>
          <p:cNvPr id="7" name="">
            <a:extLst xmlns:a="http://schemas.openxmlformats.org/drawingml/2006/main">
              <a:ext uri="{FF2B5EF4-FFF2-40B4-BE49-F238E27FC236}">
                <a16:creationId xmlns:a16="http://schemas.microsoft.com/office/drawing/2014/main" id="{77BF147E-57C0-486F-87E3-09F88E305429}"/>
              </a:ext>
            </a:extLst>
          </p:cNvPr>
          <p:cNvSpPr>
            <a:spLocks xmlns:a="http://schemas.openxmlformats.org/drawingml/2006/main" noGrp="1"/>
          </p:cNvSpPr>
          <p:nvPr/>
        </p:nvSpPr>
        <p:spPr>
          <a:xfrm xmlns:a="http://schemas.openxmlformats.org/drawingml/2006/main">
            <a:off x="619125" y="5305425"/>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8D9AA8"/>
                </a:solidFill>
                <a:latin typeface="Avenir Next"/>
                <a:ea typeface="Avenir Next"/>
                <a:cs typeface="Avenir Next"/>
              </a:defRPr>
            </a:pPr>
            <a:r>
              <a:rPr sz="975" b="1">
                <a:solidFill>
                  <a:srgbClr val="8D9AA8"/>
                </a:solidFill>
                <a:latin typeface="Avenir Next"/>
                <a:ea typeface="Avenir Next"/>
                <a:cs typeface="Avenir Next"/>
              </a:rPr>
              <a:t>SYNTHETIC SECURITY EVENTS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bf846cfc1f94964"/>
          <a:srcRect xmlns:a="http://schemas.openxmlformats.org/drawingml/2006/main" l="7707" t="0" r="7707" b="0"/>
          <a:stretch xmlns:a="http://schemas.openxmlformats.org/drawingml/2006/main">
            <a:fillRect l="0" t="0" r="0" b="0"/>
          </a:stretch>
        </p:blipFill>
        <p:spPr>
          <a:xfrm xmlns:a="http://schemas.openxmlformats.org/drawingml/2006/main">
            <a:off x="4762500" y="781050"/>
            <a:ext cx="6858000" cy="5067300"/>
          </a:xfrm>
          <a:prstGeom xmlns:a="http://schemas.openxmlformats.org/drawingml/2006/main" prst="roundRect">
            <a:avLst>
              <a:gd name="adj" fmla="val 2632"/>
            </a:avLst>
          </a:prstGeom>
        </p:spPr>
      </p:pic>
      <p:sp>
        <p:nvSpPr>
          <p:cNvPr id="9" name="">
            <a:extLst xmlns:a="http://schemas.openxmlformats.org/drawingml/2006/main">
              <a:ext uri="{FF2B5EF4-FFF2-40B4-BE49-F238E27FC236}">
                <a16:creationId xmlns:a16="http://schemas.microsoft.com/office/drawing/2014/main" id="{D4B84DFE-9951-48CA-A9FC-3BF15FACC000}"/>
              </a:ext>
            </a:extLst>
          </p:cNvPr>
          <p:cNvSpPr>
            <a:spLocks xmlns:a="http://schemas.openxmlformats.org/drawingml/2006/main" noGrp="1"/>
          </p:cNvSpPr>
          <p:nvPr/>
        </p:nvSpPr>
        <p:spPr>
          <a:xfrm xmlns:a="http://schemas.openxmlformats.org/drawingml/2006/main">
            <a:off x="4762500" y="781050"/>
            <a:ext cx="6858000" cy="5067300"/>
          </a:xfrm>
          <a:prstGeom xmlns:a="http://schemas.openxmlformats.org/drawingml/2006/main" prst="roundRect">
            <a:avLst>
              <a:gd name="adj" fmla="val 2632"/>
            </a:avLst>
          </a:prstGeom>
          <a:noFill xmlns:a="http://schemas.openxmlformats.org/drawingml/2006/main"/>
          <a:ln xmlns:a="http://schemas.openxmlformats.org/drawingml/2006/main" w="19050">
            <a:solidFill>
              <a:srgbClr val="2A343F"/>
            </a:solidFill>
            <a:prstDash val="solid"/>
          </a:ln>
        </p:spPr>
      </p:sp>
      <p:sp>
        <p:nvSpPr>
          <p:cNvPr id="10" name="">
            <a:extLst xmlns:a="http://schemas.openxmlformats.org/drawingml/2006/main">
              <a:ext uri="{FF2B5EF4-FFF2-40B4-BE49-F238E27FC236}">
                <a16:creationId xmlns:a16="http://schemas.microsoft.com/office/drawing/2014/main" id="{EDFB4F49-42E4-4F96-89A1-AE7909499234}"/>
              </a:ext>
            </a:extLst>
          </p:cNvPr>
          <p:cNvSpPr>
            <a:spLocks xmlns:a="http://schemas.openxmlformats.org/drawingml/2006/main" noGrp="1"/>
          </p:cNvSpPr>
          <p:nvPr/>
        </p:nvSpPr>
        <p:spPr>
          <a:xfrm xmlns:a="http://schemas.openxmlformats.org/drawingml/2006/main">
            <a:off x="4762500" y="6067425"/>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8D9AA8"/>
                </a:solidFill>
                <a:latin typeface="Avenir Next"/>
                <a:ea typeface="Avenir Next"/>
                <a:cs typeface="Avenir Next"/>
              </a:defRPr>
            </a:pPr>
            <a:r>
              <a:rPr sz="975" b="1">
                <a:solidFill>
                  <a:srgbClr val="8D9AA8"/>
                </a:solidFill>
                <a:latin typeface="Avenir Next"/>
                <a:ea typeface="Avenir Next"/>
                <a:cs typeface="Avenir Next"/>
              </a:rPr>
              <a:t>PYTHON 3.12   SQLITE   PANDAS   GRADIO</a:t>
            </a:r>
          </a:p>
        </p:txBody>
      </p:sp>
      <p:sp>
        <p:nvSpPr>
          <p:cNvPr id="11" name="">
            <a:extLst xmlns:a="http://schemas.openxmlformats.org/drawingml/2006/main">
              <a:ext uri="{FF2B5EF4-FFF2-40B4-BE49-F238E27FC236}">
                <a16:creationId xmlns:a16="http://schemas.microsoft.com/office/drawing/2014/main" id="{439FE996-2650-421B-96AC-9D7DF67FADBC}"/>
              </a:ext>
            </a:extLst>
          </p:cNvPr>
          <p:cNvSpPr>
            <a:spLocks xmlns:a="http://schemas.openxmlformats.org/drawingml/2006/main" noGrp="1"/>
          </p:cNvSpPr>
          <p:nvPr/>
        </p:nvSpPr>
        <p:spPr>
          <a:xfrm xmlns:a="http://schemas.openxmlformats.org/drawingml/2006/main">
            <a:off x="590550" y="6553200"/>
            <a:ext cx="6858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8D9AA8"/>
                </a:solidFill>
                <a:latin typeface="Avenir Next"/>
                <a:ea typeface="Avenir Next"/>
                <a:cs typeface="Avenir Next"/>
              </a:defRPr>
            </a:pPr>
            <a:r>
              <a:rPr sz="750" b="1">
                <a:solidFill>
                  <a:srgbClr val="8D9AA8"/>
                </a:solidFill>
                <a:latin typeface="Avenir Next"/>
                <a:ea typeface="Avenir Next"/>
                <a:cs typeface="Avenir Next"/>
              </a:rPr>
              <a:t>SYNTHETIC SIEM DATASET / PROTOTYPE MEASUREMENTS</a:t>
            </a:r>
          </a:p>
        </p:txBody>
      </p:sp>
    </p:spTree>
    <p:extLst>
      <p:ext uri="{BB962C8B-B14F-4D97-AF65-F5344CB8AC3E}">
        <p14:creationId xmlns:p14="http://schemas.microsoft.com/office/powerpoint/2010/main" val="868603491"/>
      </p:ext>
    </p:extLst>
  </p:cSld>
</p:sld>
</file>

<file path=ppt/slides/slide2.xml><?xml version="1.0" encoding="utf-8"?>
<p:sld xmlns:p="http://schemas.openxmlformats.org/presentationml/2006/main">
  <p:cSld>
    <p:bg>
      <p:bgPr>
        <a:solidFill xmlns:a="http://schemas.openxmlformats.org/drawingml/2006/main">
          <a:srgbClr val="090D12"/>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550DB7F-8629-4AFF-8CAA-7E67BAEA1293}"/>
              </a:ext>
            </a:extLst>
          </p:cNvPr>
          <p:cNvSpPr>
            <a:spLocks xmlns:a="http://schemas.openxmlformats.org/drawingml/2006/main" noGrp="1"/>
          </p:cNvSpPr>
          <p:nvPr/>
        </p:nvSpPr>
        <p:spPr>
          <a:xfrm xmlns:a="http://schemas.openxmlformats.org/drawingml/2006/main">
            <a:off x="590550" y="323850"/>
            <a:ext cx="381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F9F43"/>
                </a:solidFill>
                <a:latin typeface="Avenir Next"/>
                <a:ea typeface="Avenir Next"/>
                <a:cs typeface="Avenir Next"/>
              </a:defRPr>
            </a:pPr>
            <a:r>
              <a:rPr sz="1125" b="1">
                <a:solidFill>
                  <a:srgbClr val="FF9F43"/>
                </a:solidFill>
                <a:latin typeface="Avenir Next"/>
                <a:ea typeface="Avenir Next"/>
                <a:cs typeface="Avenir Next"/>
              </a:rPr>
              <a:t>PROBLEM</a:t>
            </a:r>
          </a:p>
        </p:txBody>
      </p:sp>
      <p:sp>
        <p:nvSpPr>
          <p:cNvPr id="2" name="">
            <a:extLst xmlns:a="http://schemas.openxmlformats.org/drawingml/2006/main">
              <a:ext uri="{FF2B5EF4-FFF2-40B4-BE49-F238E27FC236}">
                <a16:creationId xmlns:a16="http://schemas.microsoft.com/office/drawing/2014/main" id="{942ADB59-7BF5-47DB-B3F3-694F19316798}"/>
              </a:ext>
            </a:extLst>
          </p:cNvPr>
          <p:cNvSpPr>
            <a:spLocks xmlns:a="http://schemas.openxmlformats.org/drawingml/2006/main" noGrp="1"/>
          </p:cNvSpPr>
          <p:nvPr/>
        </p:nvSpPr>
        <p:spPr>
          <a:xfrm xmlns:a="http://schemas.openxmlformats.org/drawingml/2006/main">
            <a:off x="590550" y="60960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E8EDF3"/>
                </a:solidFill>
                <a:latin typeface="Avenir Next"/>
                <a:ea typeface="Avenir Next"/>
                <a:cs typeface="Avenir Next"/>
              </a:defRPr>
            </a:pPr>
            <a:r>
              <a:rPr sz="3225" b="1">
                <a:solidFill>
                  <a:srgbClr val="E8EDF3"/>
                </a:solidFill>
                <a:latin typeface="Avenir Next"/>
                <a:ea typeface="Avenir Next"/>
                <a:cs typeface="Avenir Next"/>
              </a:rPr>
              <a:t>Static SIEM data lacks replay and review state</a:t>
            </a:r>
          </a:p>
        </p:txBody>
      </p:sp>
      <p:sp>
        <p:nvSpPr>
          <p:cNvPr id="3" name="">
            <a:extLst xmlns:a="http://schemas.openxmlformats.org/drawingml/2006/main">
              <a:ext uri="{FF2B5EF4-FFF2-40B4-BE49-F238E27FC236}">
                <a16:creationId xmlns:a16="http://schemas.microsoft.com/office/drawing/2014/main" id="{948DD290-A5FC-4A03-8D65-10B75A846E4F}"/>
              </a:ext>
            </a:extLst>
          </p:cNvPr>
          <p:cNvSpPr>
            <a:spLocks xmlns:a="http://schemas.openxmlformats.org/drawingml/2006/main" noGrp="1"/>
          </p:cNvSpPr>
          <p:nvPr/>
        </p:nvSpPr>
        <p:spPr>
          <a:xfrm xmlns:a="http://schemas.openxmlformats.org/drawingml/2006/main">
            <a:off x="11144250" y="3810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8D9AA8"/>
                </a:solidFill>
                <a:latin typeface="Avenir Next"/>
                <a:ea typeface="Avenir Next"/>
                <a:cs typeface="Avenir Next"/>
              </a:defRPr>
            </a:pPr>
            <a:r>
              <a:rPr sz="1200" b="1">
                <a:solidFill>
                  <a:srgbClr val="8D9AA8"/>
                </a:solidFill>
                <a:latin typeface="Avenir Next"/>
                <a:ea typeface="Avenir Next"/>
                <a:cs typeface="Avenir Next"/>
              </a:rPr>
              <a:t>02</a:t>
            </a:r>
          </a:p>
        </p:txBody>
      </p:sp>
      <p:sp>
        <p:nvSpPr>
          <p:cNvPr id="4" name="">
            <a:extLst xmlns:a="http://schemas.openxmlformats.org/drawingml/2006/main">
              <a:ext uri="{FF2B5EF4-FFF2-40B4-BE49-F238E27FC236}">
                <a16:creationId xmlns:a16="http://schemas.microsoft.com/office/drawing/2014/main" id="{89DE59F6-4AD1-44D6-845E-776B239F8DA6}"/>
              </a:ext>
            </a:extLst>
          </p:cNvPr>
          <p:cNvSpPr>
            <a:spLocks xmlns:a="http://schemas.openxmlformats.org/drawingml/2006/main" noGrp="1"/>
          </p:cNvSpPr>
          <p:nvPr/>
        </p:nvSpPr>
        <p:spPr>
          <a:xfrm xmlns:a="http://schemas.openxmlformats.org/drawingml/2006/main">
            <a:off x="590550" y="1219200"/>
            <a:ext cx="11010900" cy="9525"/>
          </a:xfrm>
          <a:prstGeom xmlns:a="http://schemas.openxmlformats.org/drawingml/2006/main" prst="line">
            <a:avLst/>
          </a:prstGeom>
          <a:noFill xmlns:a="http://schemas.openxmlformats.org/drawingml/2006/main"/>
          <a:ln xmlns:a="http://schemas.openxmlformats.org/drawingml/2006/main" w="9525">
            <a:solidFill>
              <a:srgbClr val="2A343F"/>
            </a:solidFill>
            <a:prstDash val="solid"/>
          </a:ln>
        </p:spPr>
      </p:sp>
      <p:sp>
        <p:nvSpPr>
          <p:cNvPr id="5" name="">
            <a:extLst xmlns:a="http://schemas.openxmlformats.org/drawingml/2006/main">
              <a:ext uri="{FF2B5EF4-FFF2-40B4-BE49-F238E27FC236}">
                <a16:creationId xmlns:a16="http://schemas.microsoft.com/office/drawing/2014/main" id="{93C5BD7B-3E33-4F71-A35D-52F5278EFF38}"/>
              </a:ext>
            </a:extLst>
          </p:cNvPr>
          <p:cNvSpPr>
            <a:spLocks xmlns:a="http://schemas.openxmlformats.org/drawingml/2006/main" noGrp="1"/>
          </p:cNvSpPr>
          <p:nvPr/>
        </p:nvSpPr>
        <p:spPr>
          <a:xfrm xmlns:a="http://schemas.openxmlformats.org/drawingml/2006/main">
            <a:off x="666750" y="157162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EF5747"/>
                </a:solidFill>
                <a:latin typeface="Avenir Next"/>
                <a:ea typeface="Avenir Next"/>
                <a:cs typeface="Avenir Next"/>
              </a:defRPr>
            </a:pPr>
            <a:r>
              <a:rPr sz="1125" b="1">
                <a:solidFill>
                  <a:srgbClr val="EF5747"/>
                </a:solidFill>
                <a:latin typeface="Avenir Next"/>
                <a:ea typeface="Avenir Next"/>
                <a:cs typeface="Avenir Next"/>
              </a:rPr>
              <a:t>EVENTS AT REST</a:t>
            </a:r>
          </a:p>
        </p:txBody>
      </p:sp>
      <p:sp>
        <p:nvSpPr>
          <p:cNvPr id="6" name="">
            <a:extLst xmlns:a="http://schemas.openxmlformats.org/drawingml/2006/main">
              <a:ext uri="{FF2B5EF4-FFF2-40B4-BE49-F238E27FC236}">
                <a16:creationId xmlns:a16="http://schemas.microsoft.com/office/drawing/2014/main" id="{DBF50615-6335-492F-AB6B-D5703BF9A4A4}"/>
              </a:ext>
            </a:extLst>
          </p:cNvPr>
          <p:cNvSpPr>
            <a:spLocks xmlns:a="http://schemas.openxmlformats.org/drawingml/2006/main" noGrp="1"/>
          </p:cNvSpPr>
          <p:nvPr/>
        </p:nvSpPr>
        <p:spPr>
          <a:xfrm xmlns:a="http://schemas.openxmlformats.org/drawingml/2006/main">
            <a:off x="666750" y="1952625"/>
            <a:ext cx="3619500" cy="3143250"/>
          </a:xfrm>
          <a:prstGeom xmlns:a="http://schemas.openxmlformats.org/drawingml/2006/main" prst="roundRect">
            <a:avLst>
              <a:gd name="adj" fmla="val 3636"/>
            </a:avLst>
          </a:prstGeom>
          <a:solidFill xmlns:a="http://schemas.openxmlformats.org/drawingml/2006/main">
            <a:srgbClr val="10161E"/>
          </a:solidFill>
          <a:ln xmlns:a="http://schemas.openxmlformats.org/drawingml/2006/main" w="9525">
            <a:solidFill>
              <a:srgbClr val="2A343F"/>
            </a:solidFill>
            <a:prstDash val="solid"/>
          </a:ln>
        </p:spPr>
        <p:txBody>
          <a:bodyPr xmlns:a="http://schemas.openxmlformats.org/drawingml/2006/main" wrap="square" lIns="247650" tIns="247650" rIns="247650" bIns="247650" anchor="t">
            <a:normAutofit fontScale="100000"/>
          </a:bodyPr>
          <a:lstStyle xmlns:a="http://schemas.openxmlformats.org/drawingml/2006/main"/>
          <a:p xmlns:a="http://schemas.openxmlformats.org/drawingml/2006/main">
            <a:pPr algn="l">
              <a:defRPr sz="1575" b="0">
                <a:solidFill>
                  <a:srgbClr val="E8EDF3"/>
                </a:solidFill>
                <a:latin typeface="Avenir Next"/>
                <a:ea typeface="Avenir Next"/>
                <a:cs typeface="Avenir Next"/>
              </a:defRPr>
            </a:pPr>
            <a:r>
              <a:rPr sz="1575" b="0">
                <a:solidFill>
                  <a:srgbClr val="E8EDF3"/>
                </a:solidFill>
                <a:latin typeface="Avenir Next"/>
                <a:ea typeface="Avenir Next"/>
                <a:cs typeface="Avenir Next"/>
              </a:rPr>
              <a:t>{</a:t>
            </a:r>
          </a:p>
          <a:p xmlns:a="http://schemas.openxmlformats.org/drawingml/2006/main">
            <a:pPr algn="l">
              <a:defRPr sz="1575" b="0">
                <a:solidFill>
                  <a:srgbClr val="E8EDF3"/>
                </a:solidFill>
                <a:latin typeface="Avenir Next"/>
                <a:ea typeface="Avenir Next"/>
                <a:cs typeface="Avenir Next"/>
              </a:defRPr>
            </a:pPr>
            <a:r>
              <a:rPr sz="1575" b="0">
                <a:solidFill>
                  <a:srgbClr val="E8EDF3"/>
                </a:solidFill>
                <a:latin typeface="Avenir Next"/>
                <a:ea typeface="Avenir Next"/>
                <a:cs typeface="Avenir Next"/>
              </a:rPr>
              <a:t>  event_id: evt-1842</a:t>
            </a:r>
          </a:p>
          <a:p xmlns:a="http://schemas.openxmlformats.org/drawingml/2006/main">
            <a:pPr algn="l">
              <a:defRPr sz="1575" b="0">
                <a:solidFill>
                  <a:srgbClr val="E8EDF3"/>
                </a:solidFill>
                <a:latin typeface="Avenir Next"/>
                <a:ea typeface="Avenir Next"/>
                <a:cs typeface="Avenir Next"/>
              </a:defRPr>
            </a:pPr>
            <a:r>
              <a:rPr sz="1575" b="0">
                <a:solidFill>
                  <a:srgbClr val="E8EDF3"/>
                </a:solidFill>
                <a:latin typeface="Avenir Next"/>
                <a:ea typeface="Avenir Next"/>
                <a:cs typeface="Avenir Next"/>
              </a:rPr>
              <a:t>  severity: critical</a:t>
            </a:r>
          </a:p>
          <a:p xmlns:a="http://schemas.openxmlformats.org/drawingml/2006/main">
            <a:pPr algn="l">
              <a:defRPr sz="1575" b="0">
                <a:solidFill>
                  <a:srgbClr val="E8EDF3"/>
                </a:solidFill>
                <a:latin typeface="Avenir Next"/>
                <a:ea typeface="Avenir Next"/>
                <a:cs typeface="Avenir Next"/>
              </a:defRPr>
            </a:pPr>
            <a:r>
              <a:rPr sz="1575" b="0">
                <a:solidFill>
                  <a:srgbClr val="E8EDF3"/>
                </a:solidFill>
                <a:latin typeface="Avenir Next"/>
                <a:ea typeface="Avenir Next"/>
                <a:cs typeface="Avenir Next"/>
              </a:rPr>
              <a:t>  type: auth</a:t>
            </a:r>
          </a:p>
          <a:p xmlns:a="http://schemas.openxmlformats.org/drawingml/2006/main">
            <a:pPr algn="l">
              <a:defRPr sz="1575" b="0">
                <a:solidFill>
                  <a:srgbClr val="E8EDF3"/>
                </a:solidFill>
                <a:latin typeface="Avenir Next"/>
                <a:ea typeface="Avenir Next"/>
                <a:cs typeface="Avenir Next"/>
              </a:defRPr>
            </a:pPr>
            <a:r>
              <a:rPr sz="1575" b="0">
                <a:solidFill>
                  <a:srgbClr val="E8EDF3"/>
                </a:solidFill>
                <a:latin typeface="Avenir Next"/>
                <a:ea typeface="Avenir Next"/>
                <a:cs typeface="Avenir Next"/>
              </a:rPr>
              <a:t>  actor: user-17</a:t>
            </a:r>
          </a:p>
          <a:p xmlns:a="http://schemas.openxmlformats.org/drawingml/2006/main">
            <a:pPr algn="l">
              <a:defRPr sz="1575" b="0">
                <a:solidFill>
                  <a:srgbClr val="E8EDF3"/>
                </a:solidFill>
                <a:latin typeface="Avenir Next"/>
                <a:ea typeface="Avenir Next"/>
                <a:cs typeface="Avenir Next"/>
              </a:defRPr>
            </a:pPr>
            <a:r>
              <a:rPr sz="1575" b="0">
                <a:solidFill>
                  <a:srgbClr val="E8EDF3"/>
                </a:solidFill>
                <a:latin typeface="Avenir Next"/>
                <a:ea typeface="Avenir Next"/>
                <a:cs typeface="Avenir Next"/>
              </a:rPr>
              <a:t>  source_ip: 192.0.2.10</a:t>
            </a:r>
          </a:p>
          <a:p xmlns:a="http://schemas.openxmlformats.org/drawingml/2006/main">
            <a:pPr algn="l">
              <a:defRPr sz="1575" b="0">
                <a:solidFill>
                  <a:srgbClr val="E8EDF3"/>
                </a:solidFill>
                <a:latin typeface="Avenir Next"/>
                <a:ea typeface="Avenir Next"/>
                <a:cs typeface="Avenir Next"/>
              </a:defRPr>
            </a:pPr>
            <a:r>
              <a:rPr sz="1575" b="0">
                <a:solidFill>
                  <a:srgbClr val="E8EDF3"/>
                </a:solidFill>
                <a:latin typeface="Avenir Next"/>
                <a:ea typeface="Avenir Next"/>
                <a:cs typeface="Avenir Next"/>
              </a:rPr>
              <a:t>}</a:t>
            </a:r>
          </a:p>
        </p:txBody>
      </p:sp>
      <p:sp>
        <p:nvSpPr>
          <p:cNvPr id="7" name="">
            <a:extLst xmlns:a="http://schemas.openxmlformats.org/drawingml/2006/main">
              <a:ext uri="{FF2B5EF4-FFF2-40B4-BE49-F238E27FC236}">
                <a16:creationId xmlns:a16="http://schemas.microsoft.com/office/drawing/2014/main" id="{C16D11A4-7FC5-490B-9C89-658A1A5ABC47}"/>
              </a:ext>
            </a:extLst>
          </p:cNvPr>
          <p:cNvSpPr>
            <a:spLocks xmlns:a="http://schemas.openxmlformats.org/drawingml/2006/main" noGrp="1"/>
          </p:cNvSpPr>
          <p:nvPr/>
        </p:nvSpPr>
        <p:spPr>
          <a:xfrm xmlns:a="http://schemas.openxmlformats.org/drawingml/2006/main">
            <a:off x="666750" y="5314950"/>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8D9AA8"/>
                </a:solidFill>
                <a:latin typeface="Avenir Next"/>
                <a:ea typeface="Avenir Next"/>
                <a:cs typeface="Avenir Next"/>
              </a:defRPr>
            </a:pPr>
            <a:r>
              <a:rPr sz="1350" b="0">
                <a:solidFill>
                  <a:srgbClr val="8D9AA8"/>
                </a:solidFill>
                <a:latin typeface="Avenir Next"/>
                <a:ea typeface="Avenir Next"/>
                <a:cs typeface="Avenir Next"/>
              </a:rPr>
              <a:t>A record shows what happened. It does not preserve the operating response.</a:t>
            </a:r>
          </a:p>
        </p:txBody>
      </p:sp>
      <p:sp>
        <p:nvSpPr>
          <p:cNvPr id="8" name="">
            <a:extLst xmlns:a="http://schemas.openxmlformats.org/drawingml/2006/main">
              <a:ext uri="{FF2B5EF4-FFF2-40B4-BE49-F238E27FC236}">
                <a16:creationId xmlns:a16="http://schemas.microsoft.com/office/drawing/2014/main" id="{D527DCAF-5CEF-4750-8699-3D2B7C5CB6C0}"/>
              </a:ext>
            </a:extLst>
          </p:cNvPr>
          <p:cNvSpPr>
            <a:spLocks xmlns:a="http://schemas.openxmlformats.org/drawingml/2006/main" noGrp="1"/>
          </p:cNvSpPr>
          <p:nvPr/>
        </p:nvSpPr>
        <p:spPr>
          <a:xfrm xmlns:a="http://schemas.openxmlformats.org/drawingml/2006/main">
            <a:off x="4762500" y="1524000"/>
            <a:ext cx="9525" cy="9525"/>
          </a:xfrm>
          <a:prstGeom xmlns:a="http://schemas.openxmlformats.org/drawingml/2006/main" prst="line">
            <a:avLst/>
          </a:prstGeom>
          <a:noFill xmlns:a="http://schemas.openxmlformats.org/drawingml/2006/main"/>
          <a:ln xmlns:a="http://schemas.openxmlformats.org/drawingml/2006/main" w="19050">
            <a:solidFill>
              <a:srgbClr val="2A343F"/>
            </a:solidFill>
            <a:prstDash val="solid"/>
          </a:ln>
        </p:spPr>
      </p:sp>
      <p:sp>
        <p:nvSpPr>
          <p:cNvPr id="9" name="">
            <a:extLst xmlns:a="http://schemas.openxmlformats.org/drawingml/2006/main">
              <a:ext uri="{FF2B5EF4-FFF2-40B4-BE49-F238E27FC236}">
                <a16:creationId xmlns:a16="http://schemas.microsoft.com/office/drawing/2014/main" id="{3B4C49F6-7FDE-4903-9DB4-F88B3973DBCD}"/>
              </a:ext>
            </a:extLst>
          </p:cNvPr>
          <p:cNvSpPr>
            <a:spLocks xmlns:a="http://schemas.openxmlformats.org/drawingml/2006/main" noGrp="1"/>
          </p:cNvSpPr>
          <p:nvPr/>
        </p:nvSpPr>
        <p:spPr>
          <a:xfrm xmlns:a="http://schemas.openxmlformats.org/drawingml/2006/main">
            <a:off x="5257800" y="169545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9F43"/>
                </a:solidFill>
                <a:latin typeface="Avenir Next"/>
                <a:ea typeface="Avenir Next"/>
                <a:cs typeface="Avenir Next"/>
              </a:defRPr>
            </a:pPr>
            <a:r>
              <a:rPr sz="1350" b="1">
                <a:solidFill>
                  <a:srgbClr val="FF9F43"/>
                </a:solidFill>
                <a:latin typeface="Avenir Next"/>
                <a:ea typeface="Avenir Next"/>
                <a:cs typeface="Avenir Next"/>
              </a:rPr>
              <a:t>01</a:t>
            </a:r>
          </a:p>
        </p:txBody>
      </p:sp>
      <p:sp>
        <p:nvSpPr>
          <p:cNvPr id="10" name="">
            <a:extLst xmlns:a="http://schemas.openxmlformats.org/drawingml/2006/main">
              <a:ext uri="{FF2B5EF4-FFF2-40B4-BE49-F238E27FC236}">
                <a16:creationId xmlns:a16="http://schemas.microsoft.com/office/drawing/2014/main" id="{CE847EF9-16FB-4614-A0F4-333103304D4D}"/>
              </a:ext>
            </a:extLst>
          </p:cNvPr>
          <p:cNvSpPr>
            <a:spLocks xmlns:a="http://schemas.openxmlformats.org/drawingml/2006/main" noGrp="1"/>
          </p:cNvSpPr>
          <p:nvPr/>
        </p:nvSpPr>
        <p:spPr>
          <a:xfrm xmlns:a="http://schemas.openxmlformats.org/drawingml/2006/main">
            <a:off x="5962650" y="16668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E8EDF3"/>
                </a:solidFill>
                <a:latin typeface="Avenir Next"/>
                <a:ea typeface="Avenir Next"/>
                <a:cs typeface="Avenir Next"/>
              </a:defRPr>
            </a:pPr>
            <a:r>
              <a:rPr sz="1950" b="1">
                <a:solidFill>
                  <a:srgbClr val="E8EDF3"/>
                </a:solidFill>
                <a:latin typeface="Avenir Next"/>
                <a:ea typeface="Avenir Next"/>
                <a:cs typeface="Avenir Next"/>
              </a:rPr>
              <a:t>No live timing</a:t>
            </a:r>
          </a:p>
        </p:txBody>
      </p:sp>
      <p:sp>
        <p:nvSpPr>
          <p:cNvPr id="11" name="">
            <a:extLst xmlns:a="http://schemas.openxmlformats.org/drawingml/2006/main">
              <a:ext uri="{FF2B5EF4-FFF2-40B4-BE49-F238E27FC236}">
                <a16:creationId xmlns:a16="http://schemas.microsoft.com/office/drawing/2014/main" id="{6AAEC32D-DC5A-4C6E-8B40-381F62663666}"/>
              </a:ext>
            </a:extLst>
          </p:cNvPr>
          <p:cNvSpPr>
            <a:spLocks xmlns:a="http://schemas.openxmlformats.org/drawingml/2006/main" noGrp="1"/>
          </p:cNvSpPr>
          <p:nvPr/>
        </p:nvSpPr>
        <p:spPr>
          <a:xfrm xmlns:a="http://schemas.openxmlformats.org/drawingml/2006/main">
            <a:off x="5962650" y="20574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8D9AA8"/>
                </a:solidFill>
                <a:latin typeface="Avenir Next"/>
                <a:ea typeface="Avenir Next"/>
                <a:cs typeface="Avenir Next"/>
              </a:defRPr>
            </a:pPr>
            <a:r>
              <a:rPr sz="1350" b="0">
                <a:solidFill>
                  <a:srgbClr val="8D9AA8"/>
                </a:solidFill>
                <a:latin typeface="Avenir Next"/>
                <a:ea typeface="Avenir Next"/>
                <a:cs typeface="Avenir Next"/>
              </a:rPr>
              <a:t>Historical records cannot reproduce the pace and ordering of an incident.</a:t>
            </a:r>
          </a:p>
        </p:txBody>
      </p:sp>
      <p:sp>
        <p:nvSpPr>
          <p:cNvPr id="12" name="">
            <a:extLst xmlns:a="http://schemas.openxmlformats.org/drawingml/2006/main">
              <a:ext uri="{FF2B5EF4-FFF2-40B4-BE49-F238E27FC236}">
                <a16:creationId xmlns:a16="http://schemas.microsoft.com/office/drawing/2014/main" id="{1FDE48CF-842B-4F15-9AE4-136E58CEA1B7}"/>
              </a:ext>
            </a:extLst>
          </p:cNvPr>
          <p:cNvSpPr>
            <a:spLocks xmlns:a="http://schemas.openxmlformats.org/drawingml/2006/main" noGrp="1"/>
          </p:cNvSpPr>
          <p:nvPr/>
        </p:nvSpPr>
        <p:spPr>
          <a:xfrm xmlns:a="http://schemas.openxmlformats.org/drawingml/2006/main">
            <a:off x="5257800" y="2762250"/>
            <a:ext cx="5657850" cy="9525"/>
          </a:xfrm>
          <a:prstGeom xmlns:a="http://schemas.openxmlformats.org/drawingml/2006/main" prst="line">
            <a:avLst/>
          </a:prstGeom>
          <a:noFill xmlns:a="http://schemas.openxmlformats.org/drawingml/2006/main"/>
          <a:ln xmlns:a="http://schemas.openxmlformats.org/drawingml/2006/main" w="9525">
            <a:solidFill>
              <a:srgbClr val="2A343F"/>
            </a:solidFill>
            <a:prstDash val="solid"/>
          </a:ln>
        </p:spPr>
      </p:sp>
      <p:sp>
        <p:nvSpPr>
          <p:cNvPr id="13" name="">
            <a:extLst xmlns:a="http://schemas.openxmlformats.org/drawingml/2006/main">
              <a:ext uri="{FF2B5EF4-FFF2-40B4-BE49-F238E27FC236}">
                <a16:creationId xmlns:a16="http://schemas.microsoft.com/office/drawing/2014/main" id="{8FCD2951-484C-4A6D-9BF7-1457AACB0D21}"/>
              </a:ext>
            </a:extLst>
          </p:cNvPr>
          <p:cNvSpPr>
            <a:spLocks xmlns:a="http://schemas.openxmlformats.org/drawingml/2006/main" noGrp="1"/>
          </p:cNvSpPr>
          <p:nvPr/>
        </p:nvSpPr>
        <p:spPr>
          <a:xfrm xmlns:a="http://schemas.openxmlformats.org/drawingml/2006/main">
            <a:off x="5257800" y="30861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9F43"/>
                </a:solidFill>
                <a:latin typeface="Avenir Next"/>
                <a:ea typeface="Avenir Next"/>
                <a:cs typeface="Avenir Next"/>
              </a:defRPr>
            </a:pPr>
            <a:r>
              <a:rPr sz="1350" b="1">
                <a:solidFill>
                  <a:srgbClr val="FF9F43"/>
                </a:solidFill>
                <a:latin typeface="Avenir Next"/>
                <a:ea typeface="Avenir Next"/>
                <a:cs typeface="Avenir Next"/>
              </a:rPr>
              <a:t>02</a:t>
            </a:r>
          </a:p>
        </p:txBody>
      </p:sp>
      <p:sp>
        <p:nvSpPr>
          <p:cNvPr id="14" name="">
            <a:extLst xmlns:a="http://schemas.openxmlformats.org/drawingml/2006/main">
              <a:ext uri="{FF2B5EF4-FFF2-40B4-BE49-F238E27FC236}">
                <a16:creationId xmlns:a16="http://schemas.microsoft.com/office/drawing/2014/main" id="{7EA6F127-8192-4084-AB61-B5026AC9FB77}"/>
              </a:ext>
            </a:extLst>
          </p:cNvPr>
          <p:cNvSpPr>
            <a:spLocks xmlns:a="http://schemas.openxmlformats.org/drawingml/2006/main" noGrp="1"/>
          </p:cNvSpPr>
          <p:nvPr/>
        </p:nvSpPr>
        <p:spPr>
          <a:xfrm xmlns:a="http://schemas.openxmlformats.org/drawingml/2006/main">
            <a:off x="5962650" y="30575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E8EDF3"/>
                </a:solidFill>
                <a:latin typeface="Avenir Next"/>
                <a:ea typeface="Avenir Next"/>
                <a:cs typeface="Avenir Next"/>
              </a:defRPr>
            </a:pPr>
            <a:r>
              <a:rPr sz="1950" b="1">
                <a:solidFill>
                  <a:srgbClr val="E8EDF3"/>
                </a:solidFill>
                <a:latin typeface="Avenir Next"/>
                <a:ea typeface="Avenir Next"/>
                <a:cs typeface="Avenir Next"/>
              </a:rPr>
              <a:t>No durable review</a:t>
            </a:r>
          </a:p>
        </p:txBody>
      </p:sp>
      <p:sp>
        <p:nvSpPr>
          <p:cNvPr id="15" name="">
            <a:extLst xmlns:a="http://schemas.openxmlformats.org/drawingml/2006/main">
              <a:ext uri="{FF2B5EF4-FFF2-40B4-BE49-F238E27FC236}">
                <a16:creationId xmlns:a16="http://schemas.microsoft.com/office/drawing/2014/main" id="{AFC47179-1385-42A8-95D9-E0AD3EAB0864}"/>
              </a:ext>
            </a:extLst>
          </p:cNvPr>
          <p:cNvSpPr>
            <a:spLocks xmlns:a="http://schemas.openxmlformats.org/drawingml/2006/main" noGrp="1"/>
          </p:cNvSpPr>
          <p:nvPr/>
        </p:nvSpPr>
        <p:spPr>
          <a:xfrm xmlns:a="http://schemas.openxmlformats.org/drawingml/2006/main">
            <a:off x="5962650" y="344805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8D9AA8"/>
                </a:solidFill>
                <a:latin typeface="Avenir Next"/>
                <a:ea typeface="Avenir Next"/>
                <a:cs typeface="Avenir Next"/>
              </a:defRPr>
            </a:pPr>
            <a:r>
              <a:rPr sz="1350" b="0">
                <a:solidFill>
                  <a:srgbClr val="8D9AA8"/>
                </a:solidFill>
                <a:latin typeface="Avenir Next"/>
                <a:ea typeface="Avenir Next"/>
                <a:cs typeface="Avenir Next"/>
              </a:rPr>
              <a:t>Notes and decisions drift away from the event evidence.</a:t>
            </a:r>
          </a:p>
        </p:txBody>
      </p:sp>
      <p:sp>
        <p:nvSpPr>
          <p:cNvPr id="16" name="">
            <a:extLst xmlns:a="http://schemas.openxmlformats.org/drawingml/2006/main">
              <a:ext uri="{FF2B5EF4-FFF2-40B4-BE49-F238E27FC236}">
                <a16:creationId xmlns:a16="http://schemas.microsoft.com/office/drawing/2014/main" id="{BEA7AD43-7C25-40D5-886D-14B6EC2FD5E9}"/>
              </a:ext>
            </a:extLst>
          </p:cNvPr>
          <p:cNvSpPr>
            <a:spLocks xmlns:a="http://schemas.openxmlformats.org/drawingml/2006/main" noGrp="1"/>
          </p:cNvSpPr>
          <p:nvPr/>
        </p:nvSpPr>
        <p:spPr>
          <a:xfrm xmlns:a="http://schemas.openxmlformats.org/drawingml/2006/main">
            <a:off x="5257800" y="4152900"/>
            <a:ext cx="5657850" cy="9525"/>
          </a:xfrm>
          <a:prstGeom xmlns:a="http://schemas.openxmlformats.org/drawingml/2006/main" prst="line">
            <a:avLst/>
          </a:prstGeom>
          <a:noFill xmlns:a="http://schemas.openxmlformats.org/drawingml/2006/main"/>
          <a:ln xmlns:a="http://schemas.openxmlformats.org/drawingml/2006/main" w="9525">
            <a:solidFill>
              <a:srgbClr val="2A343F"/>
            </a:solidFill>
            <a:prstDash val="solid"/>
          </a:ln>
        </p:spPr>
      </p:sp>
      <p:sp>
        <p:nvSpPr>
          <p:cNvPr id="17" name="">
            <a:extLst xmlns:a="http://schemas.openxmlformats.org/drawingml/2006/main">
              <a:ext uri="{FF2B5EF4-FFF2-40B4-BE49-F238E27FC236}">
                <a16:creationId xmlns:a16="http://schemas.microsoft.com/office/drawing/2014/main" id="{4B5F14A5-9E2E-45FB-B996-AF01B7AAB4AA}"/>
              </a:ext>
            </a:extLst>
          </p:cNvPr>
          <p:cNvSpPr>
            <a:spLocks xmlns:a="http://schemas.openxmlformats.org/drawingml/2006/main" noGrp="1"/>
          </p:cNvSpPr>
          <p:nvPr/>
        </p:nvSpPr>
        <p:spPr>
          <a:xfrm xmlns:a="http://schemas.openxmlformats.org/drawingml/2006/main">
            <a:off x="5257800" y="447675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9F43"/>
                </a:solidFill>
                <a:latin typeface="Avenir Next"/>
                <a:ea typeface="Avenir Next"/>
                <a:cs typeface="Avenir Next"/>
              </a:defRPr>
            </a:pPr>
            <a:r>
              <a:rPr sz="1350" b="1">
                <a:solidFill>
                  <a:srgbClr val="FF9F43"/>
                </a:solidFill>
                <a:latin typeface="Avenir Next"/>
                <a:ea typeface="Avenir Next"/>
                <a:cs typeface="Avenir Next"/>
              </a:rPr>
              <a:t>03</a:t>
            </a:r>
          </a:p>
        </p:txBody>
      </p:sp>
      <p:sp>
        <p:nvSpPr>
          <p:cNvPr id="18" name="">
            <a:extLst xmlns:a="http://schemas.openxmlformats.org/drawingml/2006/main">
              <a:ext uri="{FF2B5EF4-FFF2-40B4-BE49-F238E27FC236}">
                <a16:creationId xmlns:a16="http://schemas.microsoft.com/office/drawing/2014/main" id="{EF6315C8-C819-4FB9-B93B-FE61A9C837EE}"/>
              </a:ext>
            </a:extLst>
          </p:cNvPr>
          <p:cNvSpPr>
            <a:spLocks xmlns:a="http://schemas.openxmlformats.org/drawingml/2006/main" noGrp="1"/>
          </p:cNvSpPr>
          <p:nvPr/>
        </p:nvSpPr>
        <p:spPr>
          <a:xfrm xmlns:a="http://schemas.openxmlformats.org/drawingml/2006/main">
            <a:off x="5962650" y="44481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E8EDF3"/>
                </a:solidFill>
                <a:latin typeface="Avenir Next"/>
                <a:ea typeface="Avenir Next"/>
                <a:cs typeface="Avenir Next"/>
              </a:defRPr>
            </a:pPr>
            <a:r>
              <a:rPr sz="1950" b="1">
                <a:solidFill>
                  <a:srgbClr val="E8EDF3"/>
                </a:solidFill>
                <a:latin typeface="Avenir Next"/>
                <a:ea typeface="Avenir Next"/>
                <a:cs typeface="Avenir Next"/>
              </a:rPr>
              <a:t>No tested handoff</a:t>
            </a:r>
          </a:p>
        </p:txBody>
      </p:sp>
      <p:sp>
        <p:nvSpPr>
          <p:cNvPr id="19" name="">
            <a:extLst xmlns:a="http://schemas.openxmlformats.org/drawingml/2006/main">
              <a:ext uri="{FF2B5EF4-FFF2-40B4-BE49-F238E27FC236}">
                <a16:creationId xmlns:a16="http://schemas.microsoft.com/office/drawing/2014/main" id="{0F15ED4D-C90C-435C-B3F6-C3C230B0E165}"/>
              </a:ext>
            </a:extLst>
          </p:cNvPr>
          <p:cNvSpPr>
            <a:spLocks xmlns:a="http://schemas.openxmlformats.org/drawingml/2006/main" noGrp="1"/>
          </p:cNvSpPr>
          <p:nvPr/>
        </p:nvSpPr>
        <p:spPr>
          <a:xfrm xmlns:a="http://schemas.openxmlformats.org/drawingml/2006/main">
            <a:off x="5962650" y="48387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8D9AA8"/>
                </a:solidFill>
                <a:latin typeface="Avenir Next"/>
                <a:ea typeface="Avenir Next"/>
                <a:cs typeface="Avenir Next"/>
              </a:defRPr>
            </a:pPr>
            <a:r>
              <a:rPr sz="1350" b="0">
                <a:solidFill>
                  <a:srgbClr val="8D9AA8"/>
                </a:solidFill>
                <a:latin typeface="Avenir Next"/>
                <a:ea typeface="Avenir Next"/>
                <a:cs typeface="Avenir Next"/>
              </a:rPr>
              <a:t>Restart, concurrency, and notification failures remain hidden.</a:t>
            </a:r>
          </a:p>
        </p:txBody>
      </p:sp>
      <p:sp>
        <p:nvSpPr>
          <p:cNvPr id="20" name="">
            <a:extLst xmlns:a="http://schemas.openxmlformats.org/drawingml/2006/main">
              <a:ext uri="{FF2B5EF4-FFF2-40B4-BE49-F238E27FC236}">
                <a16:creationId xmlns:a16="http://schemas.microsoft.com/office/drawing/2014/main" id="{56838387-0363-4B97-B2E2-1BD8A1B05C29}"/>
              </a:ext>
            </a:extLst>
          </p:cNvPr>
          <p:cNvSpPr>
            <a:spLocks xmlns:a="http://schemas.openxmlformats.org/drawingml/2006/main" noGrp="1"/>
          </p:cNvSpPr>
          <p:nvPr/>
        </p:nvSpPr>
        <p:spPr>
          <a:xfrm xmlns:a="http://schemas.openxmlformats.org/drawingml/2006/main">
            <a:off x="5257800" y="5543550"/>
            <a:ext cx="5657850" cy="9525"/>
          </a:xfrm>
          <a:prstGeom xmlns:a="http://schemas.openxmlformats.org/drawingml/2006/main" prst="line">
            <a:avLst/>
          </a:prstGeom>
          <a:noFill xmlns:a="http://schemas.openxmlformats.org/drawingml/2006/main"/>
          <a:ln xmlns:a="http://schemas.openxmlformats.org/drawingml/2006/main" w="9525">
            <a:solidFill>
              <a:srgbClr val="2A343F"/>
            </a:solidFill>
            <a:prstDash val="solid"/>
          </a:ln>
        </p:spPr>
      </p:sp>
      <p:sp>
        <p:nvSpPr>
          <p:cNvPr id="21" name="">
            <a:extLst xmlns:a="http://schemas.openxmlformats.org/drawingml/2006/main">
              <a:ext uri="{FF2B5EF4-FFF2-40B4-BE49-F238E27FC236}">
                <a16:creationId xmlns:a16="http://schemas.microsoft.com/office/drawing/2014/main" id="{3EA38F36-A8F7-4FD9-B233-71C490109B0D}"/>
              </a:ext>
            </a:extLst>
          </p:cNvPr>
          <p:cNvSpPr>
            <a:spLocks xmlns:a="http://schemas.openxmlformats.org/drawingml/2006/main" noGrp="1"/>
          </p:cNvSpPr>
          <p:nvPr/>
        </p:nvSpPr>
        <p:spPr>
          <a:xfrm xmlns:a="http://schemas.openxmlformats.org/drawingml/2006/main">
            <a:off x="590550" y="6553200"/>
            <a:ext cx="6858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8D9AA8"/>
                </a:solidFill>
                <a:latin typeface="Avenir Next"/>
                <a:ea typeface="Avenir Next"/>
                <a:cs typeface="Avenir Next"/>
              </a:defRPr>
            </a:pPr>
            <a:r>
              <a:rPr sz="750" b="1">
                <a:solidFill>
                  <a:srgbClr val="8D9AA8"/>
                </a:solidFill>
                <a:latin typeface="Avenir Next"/>
                <a:ea typeface="Avenir Next"/>
                <a:cs typeface="Avenir Next"/>
              </a:rPr>
              <a:t>SYNTHETIC SIEM DATASET / PROTOTYPE MEASUREMENTS</a:t>
            </a:r>
          </a:p>
        </p:txBody>
      </p:sp>
    </p:spTree>
    <p:extLst>
      <p:ext uri="{BB962C8B-B14F-4D97-AF65-F5344CB8AC3E}">
        <p14:creationId xmlns:p14="http://schemas.microsoft.com/office/powerpoint/2010/main" val="116169746"/>
      </p:ext>
    </p:extLst>
  </p:cSld>
</p:sld>
</file>

<file path=ppt/slides/slide3.xml><?xml version="1.0" encoding="utf-8"?>
<p:sld xmlns:p="http://schemas.openxmlformats.org/presentationml/2006/main">
  <p:cSld>
    <p:bg>
      <p:bgPr>
        <a:solidFill xmlns:a="http://schemas.openxmlformats.org/drawingml/2006/main">
          <a:srgbClr val="090D12"/>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9A58CDF-D2E0-4AE5-9FE5-FE71BC0547CA}"/>
              </a:ext>
            </a:extLst>
          </p:cNvPr>
          <p:cNvSpPr>
            <a:spLocks xmlns:a="http://schemas.openxmlformats.org/drawingml/2006/main" noGrp="1"/>
          </p:cNvSpPr>
          <p:nvPr/>
        </p:nvSpPr>
        <p:spPr>
          <a:xfrm xmlns:a="http://schemas.openxmlformats.org/drawingml/2006/main">
            <a:off x="590550" y="323850"/>
            <a:ext cx="381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F9F43"/>
                </a:solidFill>
                <a:latin typeface="Avenir Next"/>
                <a:ea typeface="Avenir Next"/>
                <a:cs typeface="Avenir Next"/>
              </a:defRPr>
            </a:pPr>
            <a:r>
              <a:rPr sz="1125" b="1">
                <a:solidFill>
                  <a:srgbClr val="FF9F43"/>
                </a:solidFill>
                <a:latin typeface="Avenir Next"/>
                <a:ea typeface="Avenir Next"/>
                <a:cs typeface="Avenir Next"/>
              </a:rPr>
              <a:t>SYSTEM</a:t>
            </a:r>
          </a:p>
        </p:txBody>
      </p:sp>
      <p:sp>
        <p:nvSpPr>
          <p:cNvPr id="2" name="">
            <a:extLst xmlns:a="http://schemas.openxmlformats.org/drawingml/2006/main">
              <a:ext uri="{FF2B5EF4-FFF2-40B4-BE49-F238E27FC236}">
                <a16:creationId xmlns:a16="http://schemas.microsoft.com/office/drawing/2014/main" id="{C3A98749-4891-4A1F-86C9-B5728AE8AE7F}"/>
              </a:ext>
            </a:extLst>
          </p:cNvPr>
          <p:cNvSpPr>
            <a:spLocks xmlns:a="http://schemas.openxmlformats.org/drawingml/2006/main" noGrp="1"/>
          </p:cNvSpPr>
          <p:nvPr/>
        </p:nvSpPr>
        <p:spPr>
          <a:xfrm xmlns:a="http://schemas.openxmlformats.org/drawingml/2006/main">
            <a:off x="590550" y="60960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E8EDF3"/>
                </a:solidFill>
                <a:latin typeface="Avenir Next"/>
                <a:ea typeface="Avenir Next"/>
                <a:cs typeface="Avenir Next"/>
              </a:defRPr>
            </a:pPr>
            <a:r>
              <a:rPr sz="3225" b="1">
                <a:solidFill>
                  <a:srgbClr val="E8EDF3"/>
                </a:solidFill>
                <a:latin typeface="Avenir Next"/>
                <a:ea typeface="Avenir Next"/>
                <a:cs typeface="Avenir Next"/>
              </a:rPr>
              <a:t>Local system architecture</a:t>
            </a:r>
          </a:p>
        </p:txBody>
      </p:sp>
      <p:sp>
        <p:nvSpPr>
          <p:cNvPr id="3" name="">
            <a:extLst xmlns:a="http://schemas.openxmlformats.org/drawingml/2006/main">
              <a:ext uri="{FF2B5EF4-FFF2-40B4-BE49-F238E27FC236}">
                <a16:creationId xmlns:a16="http://schemas.microsoft.com/office/drawing/2014/main" id="{DC6DC1EC-B9F0-420E-8CD2-38A00F52B540}"/>
              </a:ext>
            </a:extLst>
          </p:cNvPr>
          <p:cNvSpPr>
            <a:spLocks xmlns:a="http://schemas.openxmlformats.org/drawingml/2006/main" noGrp="1"/>
          </p:cNvSpPr>
          <p:nvPr/>
        </p:nvSpPr>
        <p:spPr>
          <a:xfrm xmlns:a="http://schemas.openxmlformats.org/drawingml/2006/main">
            <a:off x="11144250" y="3810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8D9AA8"/>
                </a:solidFill>
                <a:latin typeface="Avenir Next"/>
                <a:ea typeface="Avenir Next"/>
                <a:cs typeface="Avenir Next"/>
              </a:defRPr>
            </a:pPr>
            <a:r>
              <a:rPr sz="1200" b="1">
                <a:solidFill>
                  <a:srgbClr val="8D9AA8"/>
                </a:solidFill>
                <a:latin typeface="Avenir Next"/>
                <a:ea typeface="Avenir Next"/>
                <a:cs typeface="Avenir Next"/>
              </a:rPr>
              <a:t>03</a:t>
            </a:r>
          </a:p>
        </p:txBody>
      </p:sp>
      <p:sp>
        <p:nvSpPr>
          <p:cNvPr id="4" name="">
            <a:extLst xmlns:a="http://schemas.openxmlformats.org/drawingml/2006/main">
              <a:ext uri="{FF2B5EF4-FFF2-40B4-BE49-F238E27FC236}">
                <a16:creationId xmlns:a16="http://schemas.microsoft.com/office/drawing/2014/main" id="{A1DDDA4B-64AE-4B51-9553-51A2789B8A67}"/>
              </a:ext>
            </a:extLst>
          </p:cNvPr>
          <p:cNvSpPr>
            <a:spLocks xmlns:a="http://schemas.openxmlformats.org/drawingml/2006/main" noGrp="1"/>
          </p:cNvSpPr>
          <p:nvPr/>
        </p:nvSpPr>
        <p:spPr>
          <a:xfrm xmlns:a="http://schemas.openxmlformats.org/drawingml/2006/main">
            <a:off x="590550" y="1219200"/>
            <a:ext cx="11010900" cy="9525"/>
          </a:xfrm>
          <a:prstGeom xmlns:a="http://schemas.openxmlformats.org/drawingml/2006/main" prst="line">
            <a:avLst/>
          </a:prstGeom>
          <a:noFill xmlns:a="http://schemas.openxmlformats.org/drawingml/2006/main"/>
          <a:ln xmlns:a="http://schemas.openxmlformats.org/drawingml/2006/main" w="9525">
            <a:solidFill>
              <a:srgbClr val="2A343F"/>
            </a:solidFill>
            <a:prstDash val="solid"/>
          </a:ln>
        </p:spPr>
      </p:sp>
      <p:sp>
        <p:nvSpPr>
          <p:cNvPr id="5" name="">
            <a:extLst xmlns:a="http://schemas.openxmlformats.org/drawingml/2006/main">
              <a:ext uri="{FF2B5EF4-FFF2-40B4-BE49-F238E27FC236}">
                <a16:creationId xmlns:a16="http://schemas.microsoft.com/office/drawing/2014/main" id="{83C96312-36D5-439B-9E91-C61DBC1871A1}"/>
              </a:ext>
            </a:extLst>
          </p:cNvPr>
          <p:cNvSpPr>
            <a:spLocks xmlns:a="http://schemas.openxmlformats.org/drawingml/2006/main" noGrp="1"/>
          </p:cNvSpPr>
          <p:nvPr/>
        </p:nvSpPr>
        <p:spPr>
          <a:xfrm xmlns:a="http://schemas.openxmlformats.org/drawingml/2006/main">
            <a:off x="609600" y="1809750"/>
            <a:ext cx="1714500" cy="781050"/>
          </a:xfrm>
          <a:prstGeom xmlns:a="http://schemas.openxmlformats.org/drawingml/2006/main" prst="roundRect">
            <a:avLst>
              <a:gd name="adj" fmla="val 14634"/>
            </a:avLst>
          </a:prstGeom>
          <a:solidFill xmlns:a="http://schemas.openxmlformats.org/drawingml/2006/main">
            <a:srgbClr val="10161E"/>
          </a:solidFill>
          <a:ln xmlns:a="http://schemas.openxmlformats.org/drawingml/2006/main" w="9525">
            <a:solidFill>
              <a:srgbClr val="2A343F"/>
            </a:solidFill>
            <a:prstDash val="solid"/>
          </a:ln>
        </p:spPr>
        <p:txBody>
          <a:bodyPr xmlns:a="http://schemas.openxmlformats.org/drawingml/2006/main" wrap="square" lIns="133350" tIns="114300" rIns="133350" bIns="114300" anchor="ctr">
            <a:normAutofit fontScale="100000"/>
          </a:bodyPr>
          <a:lstStyle xmlns:a="http://schemas.openxmlformats.org/drawingml/2006/main"/>
          <a:p xmlns:a="http://schemas.openxmlformats.org/drawingml/2006/main">
            <a:pPr algn="ctr">
              <a:defRPr sz="1425" b="1">
                <a:solidFill>
                  <a:srgbClr val="E8EDF3"/>
                </a:solidFill>
                <a:latin typeface="Avenir Next"/>
                <a:ea typeface="Avenir Next"/>
                <a:cs typeface="Avenir Next"/>
              </a:defRPr>
            </a:pPr>
            <a:r>
              <a:rPr sz="1425" b="1">
                <a:solidFill>
                  <a:srgbClr val="E8EDF3"/>
                </a:solidFill>
                <a:latin typeface="Avenir Next"/>
                <a:ea typeface="Avenir Next"/>
                <a:cs typeface="Avenir Next"/>
              </a:rPr>
              <a:t>Hugging Face</a:t>
            </a:r>
          </a:p>
          <a:p xmlns:a="http://schemas.openxmlformats.org/drawingml/2006/main">
            <a:pPr algn="ctr">
              <a:defRPr sz="1425" b="1">
                <a:solidFill>
                  <a:srgbClr val="E8EDF3"/>
                </a:solidFill>
                <a:latin typeface="Avenir Next"/>
                <a:ea typeface="Avenir Next"/>
                <a:cs typeface="Avenir Next"/>
              </a:defRPr>
            </a:pPr>
            <a:r>
              <a:rPr sz="1425" b="1">
                <a:solidFill>
                  <a:srgbClr val="E8EDF3"/>
                </a:solidFill>
                <a:latin typeface="Avenir Next"/>
                <a:ea typeface="Avenir Next"/>
                <a:cs typeface="Avenir Next"/>
              </a:rPr>
              <a:t>SIEM dataset</a:t>
            </a:r>
          </a:p>
        </p:txBody>
      </p:sp>
      <p:sp>
        <p:nvSpPr>
          <p:cNvPr id="6" name="">
            <a:extLst xmlns:a="http://schemas.openxmlformats.org/drawingml/2006/main">
              <a:ext uri="{FF2B5EF4-FFF2-40B4-BE49-F238E27FC236}">
                <a16:creationId xmlns:a16="http://schemas.microsoft.com/office/drawing/2014/main" id="{3536D402-3AB3-4FA5-982D-7A9858EE60D5}"/>
              </a:ext>
            </a:extLst>
          </p:cNvPr>
          <p:cNvSpPr>
            <a:spLocks xmlns:a="http://schemas.openxmlformats.org/drawingml/2006/main" noGrp="1"/>
          </p:cNvSpPr>
          <p:nvPr/>
        </p:nvSpPr>
        <p:spPr>
          <a:xfrm xmlns:a="http://schemas.openxmlformats.org/drawingml/2006/main">
            <a:off x="2667000" y="1809750"/>
            <a:ext cx="1619250" cy="781050"/>
          </a:xfrm>
          <a:prstGeom xmlns:a="http://schemas.openxmlformats.org/drawingml/2006/main" prst="roundRect">
            <a:avLst>
              <a:gd name="adj" fmla="val 14634"/>
            </a:avLst>
          </a:prstGeom>
          <a:solidFill xmlns:a="http://schemas.openxmlformats.org/drawingml/2006/main">
            <a:srgbClr val="10161E"/>
          </a:solidFill>
          <a:ln xmlns:a="http://schemas.openxmlformats.org/drawingml/2006/main" w="9525">
            <a:solidFill>
              <a:srgbClr val="2A343F"/>
            </a:solidFill>
            <a:prstDash val="solid"/>
          </a:ln>
        </p:spPr>
        <p:txBody>
          <a:bodyPr xmlns:a="http://schemas.openxmlformats.org/drawingml/2006/main" wrap="square" lIns="133350" tIns="114300" rIns="133350" bIns="114300" anchor="ctr">
            <a:normAutofit fontScale="100000"/>
          </a:bodyPr>
          <a:lstStyle xmlns:a="http://schemas.openxmlformats.org/drawingml/2006/main"/>
          <a:p xmlns:a="http://schemas.openxmlformats.org/drawingml/2006/main">
            <a:pPr algn="ctr">
              <a:defRPr sz="1425" b="1">
                <a:solidFill>
                  <a:srgbClr val="E8EDF3"/>
                </a:solidFill>
                <a:latin typeface="Avenir Next"/>
                <a:ea typeface="Avenir Next"/>
                <a:cs typeface="Avenir Next"/>
              </a:defRPr>
            </a:pPr>
            <a:r>
              <a:rPr sz="1425" b="1">
                <a:solidFill>
                  <a:srgbClr val="E8EDF3"/>
                </a:solidFill>
                <a:latin typeface="Avenir Next"/>
                <a:ea typeface="Avenir Next"/>
                <a:cs typeface="Avenir Next"/>
              </a:rPr>
              <a:t>Revision +</a:t>
            </a:r>
          </a:p>
          <a:p xmlns:a="http://schemas.openxmlformats.org/drawingml/2006/main">
            <a:pPr algn="ctr">
              <a:defRPr sz="1425" b="1">
                <a:solidFill>
                  <a:srgbClr val="E8EDF3"/>
                </a:solidFill>
                <a:latin typeface="Avenir Next"/>
                <a:ea typeface="Avenir Next"/>
                <a:cs typeface="Avenir Next"/>
              </a:defRPr>
            </a:pPr>
            <a:r>
              <a:rPr sz="1425" b="1">
                <a:solidFill>
                  <a:srgbClr val="E8EDF3"/>
                </a:solidFill>
                <a:latin typeface="Avenir Next"/>
                <a:ea typeface="Avenir Next"/>
                <a:cs typeface="Avenir Next"/>
              </a:rPr>
              <a:t>SHA-256 gate</a:t>
            </a:r>
          </a:p>
        </p:txBody>
      </p:sp>
      <p:sp>
        <p:nvSpPr>
          <p:cNvPr id="7" name="">
            <a:extLst xmlns:a="http://schemas.openxmlformats.org/drawingml/2006/main">
              <a:ext uri="{FF2B5EF4-FFF2-40B4-BE49-F238E27FC236}">
                <a16:creationId xmlns:a16="http://schemas.microsoft.com/office/drawing/2014/main" id="{AA9DA858-9450-4F0F-9462-33815505710C}"/>
              </a:ext>
            </a:extLst>
          </p:cNvPr>
          <p:cNvSpPr>
            <a:spLocks xmlns:a="http://schemas.openxmlformats.org/drawingml/2006/main" noGrp="1"/>
          </p:cNvSpPr>
          <p:nvPr/>
        </p:nvSpPr>
        <p:spPr>
          <a:xfrm xmlns:a="http://schemas.openxmlformats.org/drawingml/2006/main">
            <a:off x="4629150" y="1809750"/>
            <a:ext cx="1619250" cy="781050"/>
          </a:xfrm>
          <a:prstGeom xmlns:a="http://schemas.openxmlformats.org/drawingml/2006/main" prst="roundRect">
            <a:avLst>
              <a:gd name="adj" fmla="val 14634"/>
            </a:avLst>
          </a:prstGeom>
          <a:solidFill xmlns:a="http://schemas.openxmlformats.org/drawingml/2006/main">
            <a:srgbClr val="10161E"/>
          </a:solidFill>
          <a:ln xmlns:a="http://schemas.openxmlformats.org/drawingml/2006/main" w="9525">
            <a:solidFill>
              <a:srgbClr val="2A343F"/>
            </a:solidFill>
            <a:prstDash val="solid"/>
          </a:ln>
        </p:spPr>
        <p:txBody>
          <a:bodyPr xmlns:a="http://schemas.openxmlformats.org/drawingml/2006/main" wrap="square" lIns="133350" tIns="114300" rIns="133350" bIns="114300" anchor="ctr">
            <a:normAutofit fontScale="98518"/>
          </a:bodyPr>
          <a:lstStyle xmlns:a="http://schemas.openxmlformats.org/drawingml/2006/main"/>
          <a:p xmlns:a="http://schemas.openxmlformats.org/drawingml/2006/main">
            <a:pPr algn="ctr">
              <a:defRPr sz="1425" b="1">
                <a:solidFill>
                  <a:srgbClr val="E8EDF3"/>
                </a:solidFill>
                <a:latin typeface="Avenir Next"/>
                <a:ea typeface="Avenir Next"/>
                <a:cs typeface="Avenir Next"/>
              </a:defRPr>
            </a:pPr>
            <a:r>
              <a:rPr sz="1425" b="1">
                <a:solidFill>
                  <a:srgbClr val="E8EDF3"/>
                </a:solidFill>
                <a:latin typeface="Avenir Next"/>
                <a:ea typeface="Avenir Next"/>
                <a:cs typeface="Avenir Next"/>
              </a:rPr>
              <a:t>Pandas</a:t>
            </a:r>
          </a:p>
          <a:p xmlns:a="http://schemas.openxmlformats.org/drawingml/2006/main">
            <a:pPr algn="ctr">
              <a:defRPr sz="1425" b="1">
                <a:solidFill>
                  <a:srgbClr val="E8EDF3"/>
                </a:solidFill>
                <a:latin typeface="Avenir Next"/>
                <a:ea typeface="Avenir Next"/>
                <a:cs typeface="Avenir Next"/>
              </a:defRPr>
            </a:pPr>
            <a:r>
              <a:rPr sz="1425" b="1">
                <a:solidFill>
                  <a:srgbClr val="E8EDF3"/>
                </a:solidFill>
                <a:latin typeface="Avenir Next"/>
                <a:ea typeface="Avenir Next"/>
                <a:cs typeface="Avenir Next"/>
              </a:rPr>
              <a:t>batch importer</a:t>
            </a:r>
          </a:p>
        </p:txBody>
      </p:sp>
      <p:sp>
        <p:nvSpPr>
          <p:cNvPr id="8" name="">
            <a:extLst xmlns:a="http://schemas.openxmlformats.org/drawingml/2006/main">
              <a:ext uri="{FF2B5EF4-FFF2-40B4-BE49-F238E27FC236}">
                <a16:creationId xmlns:a16="http://schemas.microsoft.com/office/drawing/2014/main" id="{02132832-3AB7-4B5F-8563-28750A2A5CCE}"/>
              </a:ext>
            </a:extLst>
          </p:cNvPr>
          <p:cNvSpPr>
            <a:spLocks xmlns:a="http://schemas.openxmlformats.org/drawingml/2006/main" noGrp="1"/>
          </p:cNvSpPr>
          <p:nvPr/>
        </p:nvSpPr>
        <p:spPr>
          <a:xfrm xmlns:a="http://schemas.openxmlformats.org/drawingml/2006/main">
            <a:off x="6715125" y="1600200"/>
            <a:ext cx="2000250" cy="1200150"/>
          </a:xfrm>
          <a:prstGeom xmlns:a="http://schemas.openxmlformats.org/drawingml/2006/main" prst="roundRect">
            <a:avLst>
              <a:gd name="adj" fmla="val 9524"/>
            </a:avLst>
          </a:prstGeom>
          <a:solidFill xmlns:a="http://schemas.openxmlformats.org/drawingml/2006/main">
            <a:srgbClr val="FF9F43"/>
          </a:solidFill>
          <a:ln xmlns:a="http://schemas.openxmlformats.org/drawingml/2006/main" w="19050">
            <a:solidFill>
              <a:srgbClr val="FF9F43"/>
            </a:solidFill>
            <a:prstDash val="solid"/>
          </a:ln>
        </p:spPr>
        <p:txBody>
          <a:bodyPr xmlns:a="http://schemas.openxmlformats.org/drawingml/2006/main" wrap="square" lIns="133350" tIns="114300" rIns="133350" bIns="114300" anchor="ctr">
            <a:normAutofit fontScale="100000"/>
          </a:bodyPr>
          <a:lstStyle xmlns:a="http://schemas.openxmlformats.org/drawingml/2006/main"/>
          <a:p xmlns:a="http://schemas.openxmlformats.org/drawingml/2006/main">
            <a:pPr algn="ctr">
              <a:defRPr sz="1725" b="1">
                <a:solidFill>
                  <a:srgbClr val="090D12"/>
                </a:solidFill>
                <a:latin typeface="Avenir Next"/>
                <a:ea typeface="Avenir Next"/>
                <a:cs typeface="Avenir Next"/>
              </a:defRPr>
            </a:pPr>
            <a:r>
              <a:rPr sz="1725" b="1">
                <a:solidFill>
                  <a:srgbClr val="090D12"/>
                </a:solidFill>
                <a:latin typeface="Avenir Next"/>
                <a:ea typeface="Avenir Next"/>
                <a:cs typeface="Avenir Next"/>
              </a:rPr>
              <a:t>SQLITE</a:t>
            </a:r>
          </a:p>
          <a:p xmlns:a="http://schemas.openxmlformats.org/drawingml/2006/main">
            <a:pPr algn="ctr">
              <a:defRPr sz="1725" b="1">
                <a:solidFill>
                  <a:srgbClr val="090D12"/>
                </a:solidFill>
                <a:latin typeface="Avenir Next"/>
                <a:ea typeface="Avenir Next"/>
                <a:cs typeface="Avenir Next"/>
              </a:defRPr>
            </a:pPr>
            <a:r>
              <a:rPr sz="1725" b="1">
                <a:solidFill>
                  <a:srgbClr val="090D12"/>
                </a:solidFill>
                <a:latin typeface="Avenir Next"/>
                <a:ea typeface="Avenir Next"/>
                <a:cs typeface="Avenir Next"/>
              </a:rPr>
              <a:t>EVIDENCE STORE</a:t>
            </a:r>
          </a:p>
        </p:txBody>
      </p:sp>
      <p:sp>
        <p:nvSpPr>
          <p:cNvPr id="9" name="">
            <a:extLst xmlns:a="http://schemas.openxmlformats.org/drawingml/2006/main">
              <a:ext uri="{FF2B5EF4-FFF2-40B4-BE49-F238E27FC236}">
                <a16:creationId xmlns:a16="http://schemas.microsoft.com/office/drawing/2014/main" id="{609C73D5-DCEE-437B-8514-1F8C7B8CB92E}"/>
              </a:ext>
            </a:extLst>
          </p:cNvPr>
          <p:cNvSpPr>
            <a:spLocks xmlns:a="http://schemas.openxmlformats.org/drawingml/2006/main" noGrp="1"/>
          </p:cNvSpPr>
          <p:nvPr/>
        </p:nvSpPr>
        <p:spPr>
          <a:xfrm xmlns:a="http://schemas.openxmlformats.org/drawingml/2006/main">
            <a:off x="9410700" y="1600200"/>
            <a:ext cx="2095500" cy="781050"/>
          </a:xfrm>
          <a:prstGeom xmlns:a="http://schemas.openxmlformats.org/drawingml/2006/main" prst="roundRect">
            <a:avLst>
              <a:gd name="adj" fmla="val 14634"/>
            </a:avLst>
          </a:prstGeom>
          <a:solidFill xmlns:a="http://schemas.openxmlformats.org/drawingml/2006/main">
            <a:srgbClr val="10161E"/>
          </a:solidFill>
          <a:ln xmlns:a="http://schemas.openxmlformats.org/drawingml/2006/main" w="9525">
            <a:solidFill>
              <a:srgbClr val="2A343F"/>
            </a:solidFill>
            <a:prstDash val="solid"/>
          </a:ln>
        </p:spPr>
        <p:txBody>
          <a:bodyPr xmlns:a="http://schemas.openxmlformats.org/drawingml/2006/main" wrap="square" lIns="133350" tIns="114300" rIns="133350" bIns="114300" anchor="ctr">
            <a:normAutofit fontScale="100000"/>
          </a:bodyPr>
          <a:lstStyle xmlns:a="http://schemas.openxmlformats.org/drawingml/2006/main"/>
          <a:p xmlns:a="http://schemas.openxmlformats.org/drawingml/2006/main">
            <a:pPr algn="ctr">
              <a:defRPr sz="1425" b="1">
                <a:solidFill>
                  <a:srgbClr val="E8EDF3"/>
                </a:solidFill>
                <a:latin typeface="Avenir Next"/>
                <a:ea typeface="Avenir Next"/>
                <a:cs typeface="Avenir Next"/>
              </a:defRPr>
            </a:pPr>
            <a:r>
              <a:rPr sz="1425" b="1">
                <a:solidFill>
                  <a:srgbClr val="E8EDF3"/>
                </a:solidFill>
                <a:latin typeface="Avenir Next"/>
                <a:ea typeface="Avenir Next"/>
                <a:cs typeface="Avenir Next"/>
              </a:rPr>
              <a:t>Durable replay</a:t>
            </a:r>
          </a:p>
          <a:p xmlns:a="http://schemas.openxmlformats.org/drawingml/2006/main">
            <a:pPr algn="ctr">
              <a:defRPr sz="1425" b="1">
                <a:solidFill>
                  <a:srgbClr val="E8EDF3"/>
                </a:solidFill>
                <a:latin typeface="Avenir Next"/>
                <a:ea typeface="Avenir Next"/>
                <a:cs typeface="Avenir Next"/>
              </a:defRPr>
            </a:pPr>
            <a:r>
              <a:rPr sz="1425" b="1">
                <a:solidFill>
                  <a:srgbClr val="E8EDF3"/>
                </a:solidFill>
                <a:latin typeface="Avenir Next"/>
                <a:ea typeface="Avenir Next"/>
                <a:cs typeface="Avenir Next"/>
              </a:rPr>
              <a:t>controller</a:t>
            </a:r>
          </a:p>
        </p:txBody>
      </p:sp>
      <p:sp>
        <p:nvSpPr>
          <p:cNvPr id="10" name="">
            <a:extLst xmlns:a="http://schemas.openxmlformats.org/drawingml/2006/main">
              <a:ext uri="{FF2B5EF4-FFF2-40B4-BE49-F238E27FC236}">
                <a16:creationId xmlns:a16="http://schemas.microsoft.com/office/drawing/2014/main" id="{6F6CEB05-46FE-46D3-A345-C77AD0D86FA5}"/>
              </a:ext>
            </a:extLst>
          </p:cNvPr>
          <p:cNvSpPr>
            <a:spLocks xmlns:a="http://schemas.openxmlformats.org/drawingml/2006/main" noGrp="1"/>
          </p:cNvSpPr>
          <p:nvPr/>
        </p:nvSpPr>
        <p:spPr>
          <a:xfrm xmlns:a="http://schemas.openxmlformats.org/drawingml/2006/main">
            <a:off x="9410700" y="2857500"/>
            <a:ext cx="2095500" cy="781050"/>
          </a:xfrm>
          <a:prstGeom xmlns:a="http://schemas.openxmlformats.org/drawingml/2006/main" prst="roundRect">
            <a:avLst>
              <a:gd name="adj" fmla="val 14634"/>
            </a:avLst>
          </a:prstGeom>
          <a:solidFill xmlns:a="http://schemas.openxmlformats.org/drawingml/2006/main">
            <a:srgbClr val="10161E"/>
          </a:solidFill>
          <a:ln xmlns:a="http://schemas.openxmlformats.org/drawingml/2006/main" w="9525">
            <a:solidFill>
              <a:srgbClr val="2A343F"/>
            </a:solidFill>
            <a:prstDash val="solid"/>
          </a:ln>
        </p:spPr>
        <p:txBody>
          <a:bodyPr xmlns:a="http://schemas.openxmlformats.org/drawingml/2006/main" wrap="square" lIns="133350" tIns="114300" rIns="133350" bIns="114300" anchor="ctr">
            <a:normAutofit fontScale="100000"/>
          </a:bodyPr>
          <a:lstStyle xmlns:a="http://schemas.openxmlformats.org/drawingml/2006/main"/>
          <a:p xmlns:a="http://schemas.openxmlformats.org/drawingml/2006/main">
            <a:pPr algn="ctr">
              <a:defRPr sz="1425" b="1">
                <a:solidFill>
                  <a:srgbClr val="E8EDF3"/>
                </a:solidFill>
                <a:latin typeface="Avenir Next"/>
                <a:ea typeface="Avenir Next"/>
                <a:cs typeface="Avenir Next"/>
              </a:defRPr>
            </a:pPr>
            <a:r>
              <a:rPr sz="1425" b="1">
                <a:solidFill>
                  <a:srgbClr val="E8EDF3"/>
                </a:solidFill>
                <a:latin typeface="Avenir Next"/>
                <a:ea typeface="Avenir Next"/>
                <a:cs typeface="Avenir Next"/>
              </a:rPr>
              <a:t>Monitoring queries</a:t>
            </a:r>
          </a:p>
          <a:p xmlns:a="http://schemas.openxmlformats.org/drawingml/2006/main">
            <a:pPr algn="ctr">
              <a:defRPr sz="1425" b="1">
                <a:solidFill>
                  <a:srgbClr val="E8EDF3"/>
                </a:solidFill>
                <a:latin typeface="Avenir Next"/>
                <a:ea typeface="Avenir Next"/>
                <a:cs typeface="Avenir Next"/>
              </a:defRPr>
            </a:pPr>
            <a:r>
              <a:rPr sz="1425" b="1">
                <a:solidFill>
                  <a:srgbClr val="E8EDF3"/>
                </a:solidFill>
                <a:latin typeface="Avenir Next"/>
                <a:ea typeface="Avenir Next"/>
                <a:cs typeface="Avenir Next"/>
              </a:rPr>
              <a:t>+ Gradio console</a:t>
            </a:r>
          </a:p>
        </p:txBody>
      </p:sp>
      <p:sp>
        <p:nvSpPr>
          <p:cNvPr id="11" name="">
            <a:extLst xmlns:a="http://schemas.openxmlformats.org/drawingml/2006/main">
              <a:ext uri="{FF2B5EF4-FFF2-40B4-BE49-F238E27FC236}">
                <a16:creationId xmlns:a16="http://schemas.microsoft.com/office/drawing/2014/main" id="{A121DB85-689A-462B-B802-A08D21FED0C8}"/>
              </a:ext>
            </a:extLst>
          </p:cNvPr>
          <p:cNvSpPr>
            <a:spLocks xmlns:a="http://schemas.openxmlformats.org/drawingml/2006/main" noGrp="1"/>
          </p:cNvSpPr>
          <p:nvPr/>
        </p:nvSpPr>
        <p:spPr>
          <a:xfrm xmlns:a="http://schemas.openxmlformats.org/drawingml/2006/main">
            <a:off x="6715125" y="4248150"/>
            <a:ext cx="2000250" cy="781050"/>
          </a:xfrm>
          <a:prstGeom xmlns:a="http://schemas.openxmlformats.org/drawingml/2006/main" prst="roundRect">
            <a:avLst>
              <a:gd name="adj" fmla="val 14634"/>
            </a:avLst>
          </a:prstGeom>
          <a:solidFill xmlns:a="http://schemas.openxmlformats.org/drawingml/2006/main">
            <a:srgbClr val="10161E"/>
          </a:solidFill>
          <a:ln xmlns:a="http://schemas.openxmlformats.org/drawingml/2006/main" w="9525">
            <a:solidFill>
              <a:srgbClr val="2A343F"/>
            </a:solidFill>
            <a:prstDash val="solid"/>
          </a:ln>
        </p:spPr>
        <p:txBody>
          <a:bodyPr xmlns:a="http://schemas.openxmlformats.org/drawingml/2006/main" wrap="square" lIns="133350" tIns="114300" rIns="133350" bIns="114300" anchor="ctr">
            <a:normAutofit fontScale="100000"/>
          </a:bodyPr>
          <a:lstStyle xmlns:a="http://schemas.openxmlformats.org/drawingml/2006/main"/>
          <a:p xmlns:a="http://schemas.openxmlformats.org/drawingml/2006/main">
            <a:pPr algn="ctr">
              <a:defRPr sz="1425" b="1">
                <a:solidFill>
                  <a:srgbClr val="E8EDF3"/>
                </a:solidFill>
                <a:latin typeface="Avenir Next"/>
                <a:ea typeface="Avenir Next"/>
                <a:cs typeface="Avenir Next"/>
              </a:defRPr>
            </a:pPr>
            <a:r>
              <a:rPr sz="1425" b="1">
                <a:solidFill>
                  <a:srgbClr val="E8EDF3"/>
                </a:solidFill>
                <a:latin typeface="Avenir Next"/>
                <a:ea typeface="Avenir Next"/>
                <a:cs typeface="Avenir Next"/>
              </a:rPr>
              <a:t>Review cards</a:t>
            </a:r>
          </a:p>
          <a:p xmlns:a="http://schemas.openxmlformats.org/drawingml/2006/main">
            <a:pPr algn="ctr">
              <a:defRPr sz="1425" b="1">
                <a:solidFill>
                  <a:srgbClr val="E8EDF3"/>
                </a:solidFill>
                <a:latin typeface="Avenir Next"/>
                <a:ea typeface="Avenir Next"/>
                <a:cs typeface="Avenir Next"/>
              </a:defRPr>
            </a:pPr>
            <a:r>
              <a:rPr sz="1425" b="1">
                <a:solidFill>
                  <a:srgbClr val="E8EDF3"/>
                </a:solidFill>
                <a:latin typeface="Avenir Next"/>
                <a:ea typeface="Avenir Next"/>
                <a:cs typeface="Avenir Next"/>
              </a:rPr>
              <a:t>+ activity history</a:t>
            </a:r>
          </a:p>
        </p:txBody>
      </p:sp>
      <p:sp>
        <p:nvSpPr>
          <p:cNvPr id="12" name="">
            <a:extLst xmlns:a="http://schemas.openxmlformats.org/drawingml/2006/main">
              <a:ext uri="{FF2B5EF4-FFF2-40B4-BE49-F238E27FC236}">
                <a16:creationId xmlns:a16="http://schemas.microsoft.com/office/drawing/2014/main" id="{31AC7131-601F-493E-BFC4-A8EABA5A614E}"/>
              </a:ext>
            </a:extLst>
          </p:cNvPr>
          <p:cNvSpPr>
            <a:spLocks xmlns:a="http://schemas.openxmlformats.org/drawingml/2006/main" noGrp="1"/>
          </p:cNvSpPr>
          <p:nvPr/>
        </p:nvSpPr>
        <p:spPr>
          <a:xfrm xmlns:a="http://schemas.openxmlformats.org/drawingml/2006/main">
            <a:off x="9220200" y="4248150"/>
            <a:ext cx="1381125" cy="781050"/>
          </a:xfrm>
          <a:prstGeom xmlns:a="http://schemas.openxmlformats.org/drawingml/2006/main" prst="roundRect">
            <a:avLst>
              <a:gd name="adj" fmla="val 14634"/>
            </a:avLst>
          </a:prstGeom>
          <a:solidFill xmlns:a="http://schemas.openxmlformats.org/drawingml/2006/main">
            <a:srgbClr val="10161E"/>
          </a:solidFill>
          <a:ln xmlns:a="http://schemas.openxmlformats.org/drawingml/2006/main" w="9525">
            <a:solidFill>
              <a:srgbClr val="2A343F"/>
            </a:solidFill>
            <a:prstDash val="solid"/>
          </a:ln>
        </p:spPr>
        <p:txBody>
          <a:bodyPr xmlns:a="http://schemas.openxmlformats.org/drawingml/2006/main" wrap="square" lIns="133350" tIns="114300" rIns="133350" bIns="114300" anchor="ctr">
            <a:normAutofit fontScale="87508"/>
          </a:bodyPr>
          <a:lstStyle xmlns:a="http://schemas.openxmlformats.org/drawingml/2006/main"/>
          <a:p xmlns:a="http://schemas.openxmlformats.org/drawingml/2006/main">
            <a:pPr algn="ctr">
              <a:defRPr sz="1350" b="1">
                <a:solidFill>
                  <a:srgbClr val="E8EDF3"/>
                </a:solidFill>
                <a:latin typeface="Avenir Next"/>
                <a:ea typeface="Avenir Next"/>
                <a:cs typeface="Avenir Next"/>
              </a:defRPr>
            </a:pPr>
            <a:r>
              <a:rPr sz="1350" b="1">
                <a:solidFill>
                  <a:srgbClr val="E8EDF3"/>
                </a:solidFill>
                <a:latin typeface="Avenir Next"/>
                <a:ea typeface="Avenir Next"/>
                <a:cs typeface="Avenir Next"/>
              </a:rPr>
              <a:t>Critical review</a:t>
            </a:r>
          </a:p>
          <a:p xmlns:a="http://schemas.openxmlformats.org/drawingml/2006/main">
            <a:pPr algn="ctr">
              <a:defRPr sz="1350" b="1">
                <a:solidFill>
                  <a:srgbClr val="E8EDF3"/>
                </a:solidFill>
                <a:latin typeface="Avenir Next"/>
                <a:ea typeface="Avenir Next"/>
                <a:cs typeface="Avenir Next"/>
              </a:defRPr>
            </a:pPr>
            <a:r>
              <a:rPr sz="1350" b="1">
                <a:solidFill>
                  <a:srgbClr val="E8EDF3"/>
                </a:solidFill>
                <a:latin typeface="Avenir Next"/>
                <a:ea typeface="Avenir Next"/>
                <a:cs typeface="Avenir Next"/>
              </a:rPr>
              <a:t>notifier</a:t>
            </a:r>
          </a:p>
        </p:txBody>
      </p:sp>
      <p:sp>
        <p:nvSpPr>
          <p:cNvPr id="13" name="">
            <a:extLst xmlns:a="http://schemas.openxmlformats.org/drawingml/2006/main">
              <a:ext uri="{FF2B5EF4-FFF2-40B4-BE49-F238E27FC236}">
                <a16:creationId xmlns:a16="http://schemas.microsoft.com/office/drawing/2014/main" id="{F3C46EE6-2FE3-4CF8-ADE0-249030E6315F}"/>
              </a:ext>
            </a:extLst>
          </p:cNvPr>
          <p:cNvSpPr>
            <a:spLocks xmlns:a="http://schemas.openxmlformats.org/drawingml/2006/main" noGrp="1"/>
          </p:cNvSpPr>
          <p:nvPr/>
        </p:nvSpPr>
        <p:spPr>
          <a:xfrm xmlns:a="http://schemas.openxmlformats.org/drawingml/2006/main">
            <a:off x="10858500" y="4248150"/>
            <a:ext cx="857250" cy="781050"/>
          </a:xfrm>
          <a:prstGeom xmlns:a="http://schemas.openxmlformats.org/drawingml/2006/main" prst="roundRect">
            <a:avLst>
              <a:gd name="adj" fmla="val 14634"/>
            </a:avLst>
          </a:prstGeom>
          <a:solidFill xmlns:a="http://schemas.openxmlformats.org/drawingml/2006/main">
            <a:srgbClr val="EF5747"/>
          </a:solidFill>
          <a:ln xmlns:a="http://schemas.openxmlformats.org/drawingml/2006/main" w="9525">
            <a:solidFill>
              <a:srgbClr val="EF5747"/>
            </a:solidFill>
            <a:prstDash val="solid"/>
          </a:ln>
        </p:spPr>
        <p:txBody>
          <a:bodyPr xmlns:a="http://schemas.openxmlformats.org/drawingml/2006/main" wrap="square" lIns="133350" tIns="114300" rIns="133350" bIns="114300" anchor="ctr">
            <a:normAutofit fontScale="100000"/>
          </a:bodyPr>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SLACK</a:t>
            </a:r>
          </a:p>
        </p:txBody>
      </p:sp>
      <p:cxnSp>
        <p:nvCxnSpPr>
          <p:cNvPr id="39" name=""/>
          <p:cNvCxnSpPr>
            <a:stCxn xmlns:a="http://schemas.openxmlformats.org/drawingml/2006/main" id="5" idx="3"/>
            <a:endCxn xmlns:a="http://schemas.openxmlformats.org/drawingml/2006/main" id="6" idx="1"/>
          </p:cNvCxnSpPr>
          <p:nvPr/>
        </p:nvCxnSpPr>
        <p:spPr>
          <a:xfrm xmlns:a="http://schemas.openxmlformats.org/drawingml/2006/main">
            <a:off x="2324100" y="2200275"/>
            <a:ext cx="342900" cy="0"/>
          </a:xfrm>
          <a:prstGeom xmlns:a="http://schemas.openxmlformats.org/drawingml/2006/main" prst="straightConnector1">
            <a:avLst/>
          </a:prstGeom>
          <a:ln xmlns:a="http://schemas.openxmlformats.org/drawingml/2006/main" w="19050">
            <a:solidFill>
              <a:srgbClr val="8D9AA8"/>
            </a:solidFill>
            <a:prstDash val="solid"/>
            <a:tailEnd type="triangle" w="sm" len="sm"/>
          </a:ln>
        </p:spPr>
      </p:cxnSp>
      <p:cxnSp>
        <p:nvCxnSpPr>
          <p:cNvPr id="40" name=""/>
          <p:cNvCxnSpPr>
            <a:stCxn xmlns:a="http://schemas.openxmlformats.org/drawingml/2006/main" id="6" idx="3"/>
            <a:endCxn xmlns:a="http://schemas.openxmlformats.org/drawingml/2006/main" id="7" idx="1"/>
          </p:cNvCxnSpPr>
          <p:nvPr/>
        </p:nvCxnSpPr>
        <p:spPr>
          <a:xfrm xmlns:a="http://schemas.openxmlformats.org/drawingml/2006/main">
            <a:off x="4286250" y="2200275"/>
            <a:ext cx="342900" cy="0"/>
          </a:xfrm>
          <a:prstGeom xmlns:a="http://schemas.openxmlformats.org/drawingml/2006/main" prst="straightConnector1">
            <a:avLst/>
          </a:prstGeom>
          <a:ln xmlns:a="http://schemas.openxmlformats.org/drawingml/2006/main" w="19050">
            <a:solidFill>
              <a:srgbClr val="8D9AA8"/>
            </a:solidFill>
            <a:prstDash val="solid"/>
            <a:tailEnd type="triangle" w="sm" len="sm"/>
          </a:ln>
        </p:spPr>
      </p:cxnSp>
      <p:cxnSp>
        <p:nvCxnSpPr>
          <p:cNvPr id="41" name=""/>
          <p:cNvCxnSpPr>
            <a:stCxn xmlns:a="http://schemas.openxmlformats.org/drawingml/2006/main" id="7" idx="3"/>
            <a:endCxn xmlns:a="http://schemas.openxmlformats.org/drawingml/2006/main" id="8" idx="1"/>
          </p:cNvCxnSpPr>
          <p:nvPr/>
        </p:nvCxnSpPr>
        <p:spPr>
          <a:xfrm xmlns:a="http://schemas.openxmlformats.org/drawingml/2006/main">
            <a:off x="6248400" y="2200275"/>
            <a:ext cx="466725" cy="0"/>
          </a:xfrm>
          <a:prstGeom xmlns:a="http://schemas.openxmlformats.org/drawingml/2006/main" prst="straightConnector1">
            <a:avLst/>
          </a:prstGeom>
          <a:ln xmlns:a="http://schemas.openxmlformats.org/drawingml/2006/main" w="19050">
            <a:solidFill>
              <a:srgbClr val="8D9AA8"/>
            </a:solidFill>
            <a:prstDash val="solid"/>
            <a:tailEnd type="triangle" w="sm" len="sm"/>
          </a:ln>
        </p:spPr>
      </p:cxnSp>
      <p:cxnSp>
        <p:nvCxnSpPr>
          <p:cNvPr id="42" name=""/>
          <p:cNvCxnSpPr>
            <a:stCxn xmlns:a="http://schemas.openxmlformats.org/drawingml/2006/main" id="8" idx="3"/>
            <a:endCxn xmlns:a="http://schemas.openxmlformats.org/drawingml/2006/main" id="9" idx="1"/>
          </p:cNvCxnSpPr>
          <p:nvPr/>
        </p:nvCxnSpPr>
        <p:spPr>
          <a:xfrm xmlns:a="http://schemas.openxmlformats.org/drawingml/2006/main" flipV="1">
            <a:off x="8715375" y="1990725"/>
            <a:ext cx="695325" cy="209550"/>
          </a:xfrm>
          <a:prstGeom xmlns:a="http://schemas.openxmlformats.org/drawingml/2006/main" prst="straightConnector1">
            <a:avLst/>
          </a:prstGeom>
          <a:ln xmlns:a="http://schemas.openxmlformats.org/drawingml/2006/main" w="19050">
            <a:solidFill>
              <a:srgbClr val="8D9AA8"/>
            </a:solidFill>
            <a:prstDash val="solid"/>
            <a:tailEnd type="triangle" w="sm" len="sm"/>
          </a:ln>
        </p:spPr>
      </p:cxnSp>
      <p:cxnSp>
        <p:nvCxnSpPr>
          <p:cNvPr id="43" name=""/>
          <p:cNvCxnSpPr>
            <a:stCxn xmlns:a="http://schemas.openxmlformats.org/drawingml/2006/main" id="9" idx="2"/>
            <a:endCxn xmlns:a="http://schemas.openxmlformats.org/drawingml/2006/main" id="10" idx="0"/>
          </p:cNvCxnSpPr>
          <p:nvPr/>
        </p:nvCxnSpPr>
        <p:spPr>
          <a:xfrm xmlns:a="http://schemas.openxmlformats.org/drawingml/2006/main">
            <a:off x="10458450" y="2381250"/>
            <a:ext cx="0" cy="476250"/>
          </a:xfrm>
          <a:prstGeom xmlns:a="http://schemas.openxmlformats.org/drawingml/2006/main" prst="straightConnector1">
            <a:avLst/>
          </a:prstGeom>
          <a:ln xmlns:a="http://schemas.openxmlformats.org/drawingml/2006/main" w="19050">
            <a:solidFill>
              <a:srgbClr val="8D9AA8"/>
            </a:solidFill>
            <a:prstDash val="solid"/>
            <a:tailEnd type="triangle" w="sm" len="sm"/>
          </a:ln>
        </p:spPr>
      </p:cxnSp>
      <p:cxnSp>
        <p:nvCxnSpPr>
          <p:cNvPr id="44" name=""/>
          <p:cNvCxnSpPr>
            <a:stCxn xmlns:a="http://schemas.openxmlformats.org/drawingml/2006/main" id="10" idx="2"/>
            <a:endCxn xmlns:a="http://schemas.openxmlformats.org/drawingml/2006/main" id="11" idx="0"/>
          </p:cNvCxnSpPr>
          <p:nvPr/>
        </p:nvCxnSpPr>
        <p:spPr>
          <a:xfrm xmlns:a="http://schemas.openxmlformats.org/drawingml/2006/main" flipH="1">
            <a:off x="7715250" y="3638550"/>
            <a:ext cx="2743200" cy="609600"/>
          </a:xfrm>
          <a:prstGeom xmlns:a="http://schemas.openxmlformats.org/drawingml/2006/main" prst="bentConnector4">
            <a:avLst>
              <a:gd name="adj1" fmla="val 0"/>
              <a:gd name="adj2" fmla="val 50000"/>
            </a:avLst>
          </a:prstGeom>
          <a:ln xmlns:a="http://schemas.openxmlformats.org/drawingml/2006/main" w="19050">
            <a:solidFill>
              <a:srgbClr val="8D9AA8"/>
            </a:solidFill>
            <a:prstDash val="solid"/>
            <a:tailEnd type="triangle" w="sm" len="sm"/>
          </a:ln>
        </p:spPr>
      </p:cxnSp>
      <p:cxnSp>
        <p:nvCxnSpPr>
          <p:cNvPr id="45" name=""/>
          <p:cNvCxnSpPr>
            <a:stCxn xmlns:a="http://schemas.openxmlformats.org/drawingml/2006/main" id="11" idx="0"/>
            <a:endCxn xmlns:a="http://schemas.openxmlformats.org/drawingml/2006/main" id="8" idx="2"/>
          </p:cNvCxnSpPr>
          <p:nvPr/>
        </p:nvCxnSpPr>
        <p:spPr>
          <a:xfrm xmlns:a="http://schemas.openxmlformats.org/drawingml/2006/main" flipV="1">
            <a:off x="7715250" y="2800350"/>
            <a:ext cx="0" cy="1447800"/>
          </a:xfrm>
          <a:prstGeom xmlns:a="http://schemas.openxmlformats.org/drawingml/2006/main" prst="straightConnector1">
            <a:avLst/>
          </a:prstGeom>
          <a:ln xmlns:a="http://schemas.openxmlformats.org/drawingml/2006/main" w="19050">
            <a:solidFill>
              <a:srgbClr val="FF9F43"/>
            </a:solidFill>
            <a:prstDash val="solid"/>
            <a:tailEnd type="triangle" w="sm" len="sm"/>
          </a:ln>
        </p:spPr>
      </p:cxnSp>
      <p:cxnSp>
        <p:nvCxnSpPr>
          <p:cNvPr id="46" name=""/>
          <p:cNvCxnSpPr>
            <a:stCxn xmlns:a="http://schemas.openxmlformats.org/drawingml/2006/main" id="11" idx="3"/>
            <a:endCxn xmlns:a="http://schemas.openxmlformats.org/drawingml/2006/main" id="12" idx="1"/>
          </p:cNvCxnSpPr>
          <p:nvPr/>
        </p:nvCxnSpPr>
        <p:spPr>
          <a:xfrm xmlns:a="http://schemas.openxmlformats.org/drawingml/2006/main">
            <a:off x="8715375" y="4638675"/>
            <a:ext cx="504825" cy="0"/>
          </a:xfrm>
          <a:prstGeom xmlns:a="http://schemas.openxmlformats.org/drawingml/2006/main" prst="straightConnector1">
            <a:avLst/>
          </a:prstGeom>
          <a:ln xmlns:a="http://schemas.openxmlformats.org/drawingml/2006/main" w="19050">
            <a:solidFill>
              <a:srgbClr val="8D9AA8"/>
            </a:solidFill>
            <a:prstDash val="solid"/>
            <a:tailEnd type="triangle" w="sm" len="sm"/>
          </a:ln>
        </p:spPr>
      </p:cxnSp>
      <p:cxnSp>
        <p:nvCxnSpPr>
          <p:cNvPr id="47" name=""/>
          <p:cNvCxnSpPr>
            <a:stCxn xmlns:a="http://schemas.openxmlformats.org/drawingml/2006/main" id="12" idx="3"/>
            <a:endCxn xmlns:a="http://schemas.openxmlformats.org/drawingml/2006/main" id="13" idx="1"/>
          </p:cNvCxnSpPr>
          <p:nvPr/>
        </p:nvCxnSpPr>
        <p:spPr>
          <a:xfrm xmlns:a="http://schemas.openxmlformats.org/drawingml/2006/main">
            <a:off x="10601325" y="4638675"/>
            <a:ext cx="257175" cy="0"/>
          </a:xfrm>
          <a:prstGeom xmlns:a="http://schemas.openxmlformats.org/drawingml/2006/main" prst="straightConnector1">
            <a:avLst/>
          </a:prstGeom>
          <a:ln xmlns:a="http://schemas.openxmlformats.org/drawingml/2006/main" w="19050">
            <a:solidFill>
              <a:srgbClr val="8D9AA8"/>
            </a:solidFill>
            <a:prstDash val="solid"/>
            <a:tailEnd type="triangle" w="sm" len="sm"/>
          </a:ln>
        </p:spPr>
      </p:cxnSp>
      <p:sp>
        <p:nvSpPr>
          <p:cNvPr id="23" name="">
            <a:extLst xmlns:a="http://schemas.openxmlformats.org/drawingml/2006/main">
              <a:ext uri="{FF2B5EF4-FFF2-40B4-BE49-F238E27FC236}">
                <a16:creationId xmlns:a16="http://schemas.microsoft.com/office/drawing/2014/main" id="{EF00A67C-8AED-4DBB-8614-52E80F51F361}"/>
              </a:ext>
            </a:extLst>
          </p:cNvPr>
          <p:cNvSpPr>
            <a:spLocks xmlns:a="http://schemas.openxmlformats.org/drawingml/2006/main" noGrp="1"/>
          </p:cNvSpPr>
          <p:nvPr/>
        </p:nvSpPr>
        <p:spPr>
          <a:xfrm xmlns:a="http://schemas.openxmlformats.org/drawingml/2006/main">
            <a:off x="609600" y="28575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8D9AA8"/>
                </a:solidFill>
                <a:latin typeface="Avenir Next"/>
                <a:ea typeface="Avenir Next"/>
                <a:cs typeface="Avenir Next"/>
              </a:defRPr>
            </a:pPr>
            <a:r>
              <a:rPr sz="975" b="1">
                <a:solidFill>
                  <a:srgbClr val="8D9AA8"/>
                </a:solidFill>
                <a:latin typeface="Avenir Next"/>
                <a:ea typeface="Avenir Next"/>
                <a:cs typeface="Avenir Next"/>
              </a:rPr>
              <a:t>PINNED INPUT</a:t>
            </a:r>
          </a:p>
        </p:txBody>
      </p:sp>
      <p:sp>
        <p:nvSpPr>
          <p:cNvPr id="24" name="">
            <a:extLst xmlns:a="http://schemas.openxmlformats.org/drawingml/2006/main">
              <a:ext uri="{FF2B5EF4-FFF2-40B4-BE49-F238E27FC236}">
                <a16:creationId xmlns:a16="http://schemas.microsoft.com/office/drawing/2014/main" id="{08D02FEB-CE96-46F0-96D9-088E5527F4D6}"/>
              </a:ext>
            </a:extLst>
          </p:cNvPr>
          <p:cNvSpPr>
            <a:spLocks xmlns:a="http://schemas.openxmlformats.org/drawingml/2006/main" noGrp="1"/>
          </p:cNvSpPr>
          <p:nvPr/>
        </p:nvSpPr>
        <p:spPr>
          <a:xfrm xmlns:a="http://schemas.openxmlformats.org/drawingml/2006/main">
            <a:off x="4629150" y="285750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8D9AA8"/>
                </a:solidFill>
                <a:latin typeface="Avenir Next"/>
                <a:ea typeface="Avenir Next"/>
                <a:cs typeface="Avenir Next"/>
              </a:defRPr>
            </a:pPr>
            <a:r>
              <a:rPr sz="975" b="1">
                <a:solidFill>
                  <a:srgbClr val="8D9AA8"/>
                </a:solidFill>
                <a:latin typeface="Avenir Next"/>
                <a:ea typeface="Avenir Next"/>
                <a:cs typeface="Avenir Next"/>
              </a:rPr>
              <a:t>10,000 ROW BATCHES</a:t>
            </a:r>
          </a:p>
        </p:txBody>
      </p:sp>
      <p:sp>
        <p:nvSpPr>
          <p:cNvPr id="25" name="">
            <a:extLst xmlns:a="http://schemas.openxmlformats.org/drawingml/2006/main">
              <a:ext uri="{FF2B5EF4-FFF2-40B4-BE49-F238E27FC236}">
                <a16:creationId xmlns:a16="http://schemas.microsoft.com/office/drawing/2014/main" id="{80CB8FEC-EB28-47EE-B05A-635A296E58C7}"/>
              </a:ext>
            </a:extLst>
          </p:cNvPr>
          <p:cNvSpPr>
            <a:spLocks xmlns:a="http://schemas.openxmlformats.org/drawingml/2006/main" noGrp="1"/>
          </p:cNvSpPr>
          <p:nvPr/>
        </p:nvSpPr>
        <p:spPr>
          <a:xfrm xmlns:a="http://schemas.openxmlformats.org/drawingml/2006/main">
            <a:off x="590550" y="6553200"/>
            <a:ext cx="6858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8D9AA8"/>
                </a:solidFill>
                <a:latin typeface="Avenir Next"/>
                <a:ea typeface="Avenir Next"/>
                <a:cs typeface="Avenir Next"/>
              </a:defRPr>
            </a:pPr>
            <a:r>
              <a:rPr sz="750" b="1">
                <a:solidFill>
                  <a:srgbClr val="8D9AA8"/>
                </a:solidFill>
                <a:latin typeface="Avenir Next"/>
                <a:ea typeface="Avenir Next"/>
                <a:cs typeface="Avenir Next"/>
              </a:rPr>
              <a:t>SYNTHETIC SIEM DATASET / PROTOTYPE MEASUREMENTS</a:t>
            </a:r>
          </a:p>
        </p:txBody>
      </p:sp>
    </p:spTree>
    <p:extLst>
      <p:ext uri="{BB962C8B-B14F-4D97-AF65-F5344CB8AC3E}">
        <p14:creationId xmlns:p14="http://schemas.microsoft.com/office/powerpoint/2010/main" val="129307237"/>
      </p:ext>
    </p:extLst>
  </p:cSld>
</p:sld>
</file>

<file path=ppt/slides/slide4.xml><?xml version="1.0" encoding="utf-8"?>
<p:sld xmlns:p="http://schemas.openxmlformats.org/presentationml/2006/main">
  <p:cSld>
    <p:bg>
      <p:bgPr>
        <a:solidFill xmlns:a="http://schemas.openxmlformats.org/drawingml/2006/main">
          <a:srgbClr val="090D12"/>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B3FD3E1-738C-454B-A691-F24918760224}"/>
              </a:ext>
            </a:extLst>
          </p:cNvPr>
          <p:cNvSpPr>
            <a:spLocks xmlns:a="http://schemas.openxmlformats.org/drawingml/2006/main" noGrp="1"/>
          </p:cNvSpPr>
          <p:nvPr/>
        </p:nvSpPr>
        <p:spPr>
          <a:xfrm xmlns:a="http://schemas.openxmlformats.org/drawingml/2006/main">
            <a:off x="590550" y="323850"/>
            <a:ext cx="381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F9F43"/>
                </a:solidFill>
                <a:latin typeface="Avenir Next"/>
                <a:ea typeface="Avenir Next"/>
                <a:cs typeface="Avenir Next"/>
              </a:defRPr>
            </a:pPr>
            <a:r>
              <a:rPr sz="1125" b="1">
                <a:solidFill>
                  <a:srgbClr val="FF9F43"/>
                </a:solidFill>
                <a:latin typeface="Avenir Next"/>
                <a:ea typeface="Avenir Next"/>
                <a:cs typeface="Avenir Next"/>
              </a:rPr>
              <a:t>INVESTIGATION WORKFLOW</a:t>
            </a:r>
          </a:p>
        </p:txBody>
      </p:sp>
      <p:sp>
        <p:nvSpPr>
          <p:cNvPr id="2" name="">
            <a:extLst xmlns:a="http://schemas.openxmlformats.org/drawingml/2006/main">
              <a:ext uri="{FF2B5EF4-FFF2-40B4-BE49-F238E27FC236}">
                <a16:creationId xmlns:a16="http://schemas.microsoft.com/office/drawing/2014/main" id="{627F7A6A-45D9-413B-86C8-7AC774861D45}"/>
              </a:ext>
            </a:extLst>
          </p:cNvPr>
          <p:cNvSpPr>
            <a:spLocks xmlns:a="http://schemas.openxmlformats.org/drawingml/2006/main" noGrp="1"/>
          </p:cNvSpPr>
          <p:nvPr/>
        </p:nvSpPr>
        <p:spPr>
          <a:xfrm xmlns:a="http://schemas.openxmlformats.org/drawingml/2006/main">
            <a:off x="590550" y="60960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E8EDF3"/>
                </a:solidFill>
                <a:latin typeface="Avenir Next"/>
                <a:ea typeface="Avenir Next"/>
                <a:cs typeface="Avenir Next"/>
              </a:defRPr>
            </a:pPr>
            <a:r>
              <a:rPr sz="3225" b="1">
                <a:solidFill>
                  <a:srgbClr val="E8EDF3"/>
                </a:solidFill>
                <a:latin typeface="Avenir Next"/>
                <a:ea typeface="Avenir Next"/>
                <a:cs typeface="Avenir Next"/>
              </a:rPr>
              <a:t>One event from replay to team action</a:t>
            </a:r>
          </a:p>
        </p:txBody>
      </p:sp>
      <p:sp>
        <p:nvSpPr>
          <p:cNvPr id="3" name="">
            <a:extLst xmlns:a="http://schemas.openxmlformats.org/drawingml/2006/main">
              <a:ext uri="{FF2B5EF4-FFF2-40B4-BE49-F238E27FC236}">
                <a16:creationId xmlns:a16="http://schemas.microsoft.com/office/drawing/2014/main" id="{24E5F5DF-E110-4268-8A4B-441158BD9C55}"/>
              </a:ext>
            </a:extLst>
          </p:cNvPr>
          <p:cNvSpPr>
            <a:spLocks xmlns:a="http://schemas.openxmlformats.org/drawingml/2006/main" noGrp="1"/>
          </p:cNvSpPr>
          <p:nvPr/>
        </p:nvSpPr>
        <p:spPr>
          <a:xfrm xmlns:a="http://schemas.openxmlformats.org/drawingml/2006/main">
            <a:off x="11144250" y="3810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8D9AA8"/>
                </a:solidFill>
                <a:latin typeface="Avenir Next"/>
                <a:ea typeface="Avenir Next"/>
                <a:cs typeface="Avenir Next"/>
              </a:defRPr>
            </a:pPr>
            <a:r>
              <a:rPr sz="1200" b="1">
                <a:solidFill>
                  <a:srgbClr val="8D9AA8"/>
                </a:solidFill>
                <a:latin typeface="Avenir Next"/>
                <a:ea typeface="Avenir Next"/>
                <a:cs typeface="Avenir Next"/>
              </a:rPr>
              <a:t>04</a:t>
            </a:r>
          </a:p>
        </p:txBody>
      </p:sp>
      <p:sp>
        <p:nvSpPr>
          <p:cNvPr id="4" name="">
            <a:extLst xmlns:a="http://schemas.openxmlformats.org/drawingml/2006/main">
              <a:ext uri="{FF2B5EF4-FFF2-40B4-BE49-F238E27FC236}">
                <a16:creationId xmlns:a16="http://schemas.microsoft.com/office/drawing/2014/main" id="{7246022B-DD87-4270-AD21-00A5EEF7FB2D}"/>
              </a:ext>
            </a:extLst>
          </p:cNvPr>
          <p:cNvSpPr>
            <a:spLocks xmlns:a="http://schemas.openxmlformats.org/drawingml/2006/main" noGrp="1"/>
          </p:cNvSpPr>
          <p:nvPr/>
        </p:nvSpPr>
        <p:spPr>
          <a:xfrm xmlns:a="http://schemas.openxmlformats.org/drawingml/2006/main">
            <a:off x="590550" y="1219200"/>
            <a:ext cx="11010900" cy="9525"/>
          </a:xfrm>
          <a:prstGeom xmlns:a="http://schemas.openxmlformats.org/drawingml/2006/main" prst="line">
            <a:avLst/>
          </a:prstGeom>
          <a:noFill xmlns:a="http://schemas.openxmlformats.org/drawingml/2006/main"/>
          <a:ln xmlns:a="http://schemas.openxmlformats.org/drawingml/2006/main" w="9525">
            <a:solidFill>
              <a:srgbClr val="2A343F"/>
            </a:solidFill>
            <a:prstDash val="solid"/>
          </a:ln>
        </p:spPr>
      </p:sp>
      <p:sp>
        <p:nvSpPr>
          <p:cNvPr id="5" name="">
            <a:extLst xmlns:a="http://schemas.openxmlformats.org/drawingml/2006/main">
              <a:ext uri="{FF2B5EF4-FFF2-40B4-BE49-F238E27FC236}">
                <a16:creationId xmlns:a16="http://schemas.microsoft.com/office/drawing/2014/main" id="{CDDB230C-AA3B-42BC-BC50-FD9F67A2EE07}"/>
              </a:ext>
            </a:extLst>
          </p:cNvPr>
          <p:cNvSpPr>
            <a:spLocks xmlns:a="http://schemas.openxmlformats.org/drawingml/2006/main" noGrp="1"/>
          </p:cNvSpPr>
          <p:nvPr/>
        </p:nvSpPr>
        <p:spPr>
          <a:xfrm xmlns:a="http://schemas.openxmlformats.org/drawingml/2006/main">
            <a:off x="1104900" y="2905125"/>
            <a:ext cx="9982200" cy="9525"/>
          </a:xfrm>
          <a:prstGeom xmlns:a="http://schemas.openxmlformats.org/drawingml/2006/main" prst="line">
            <a:avLst/>
          </a:prstGeom>
          <a:noFill xmlns:a="http://schemas.openxmlformats.org/drawingml/2006/main"/>
          <a:ln xmlns:a="http://schemas.openxmlformats.org/drawingml/2006/main" w="38100">
            <a:solidFill>
              <a:srgbClr val="2A343F"/>
            </a:solidFill>
            <a:prstDash val="solid"/>
          </a:ln>
        </p:spPr>
      </p:sp>
      <p:sp>
        <p:nvSpPr>
          <p:cNvPr id="6" name="">
            <a:extLst xmlns:a="http://schemas.openxmlformats.org/drawingml/2006/main">
              <a:ext uri="{FF2B5EF4-FFF2-40B4-BE49-F238E27FC236}">
                <a16:creationId xmlns:a16="http://schemas.microsoft.com/office/drawing/2014/main" id="{5C414BA5-E945-4C52-9440-553FC5D73417}"/>
              </a:ext>
            </a:extLst>
          </p:cNvPr>
          <p:cNvSpPr>
            <a:spLocks xmlns:a="http://schemas.openxmlformats.org/drawingml/2006/main" noGrp="1"/>
          </p:cNvSpPr>
          <p:nvPr/>
        </p:nvSpPr>
        <p:spPr>
          <a:xfrm xmlns:a="http://schemas.openxmlformats.org/drawingml/2006/main">
            <a:off x="1428750" y="2657475"/>
            <a:ext cx="533400" cy="533400"/>
          </a:xfrm>
          <a:prstGeom xmlns:a="http://schemas.openxmlformats.org/drawingml/2006/main" prst="ellipse">
            <a:avLst/>
          </a:prstGeom>
          <a:solidFill xmlns:a="http://schemas.openxmlformats.org/drawingml/2006/main">
            <a:srgbClr val="FF9F43"/>
          </a:solidFill>
          <a:ln xmlns:a="http://schemas.openxmlformats.org/drawingml/2006/main" w="9525">
            <a:solidFill>
              <a:srgbClr val="FF9F43"/>
            </a:solidFill>
            <a:prstDash val="solid"/>
          </a:ln>
        </p:spPr>
      </p:sp>
      <p:sp>
        <p:nvSpPr>
          <p:cNvPr id="7" name="">
            <a:extLst xmlns:a="http://schemas.openxmlformats.org/drawingml/2006/main">
              <a:ext uri="{FF2B5EF4-FFF2-40B4-BE49-F238E27FC236}">
                <a16:creationId xmlns:a16="http://schemas.microsoft.com/office/drawing/2014/main" id="{E0E6C0F7-A7C5-47AD-A7B8-A4AADAFF7D11}"/>
              </a:ext>
            </a:extLst>
          </p:cNvPr>
          <p:cNvSpPr>
            <a:spLocks xmlns:a="http://schemas.openxmlformats.org/drawingml/2006/main" noGrp="1"/>
          </p:cNvSpPr>
          <p:nvPr/>
        </p:nvSpPr>
        <p:spPr>
          <a:xfrm xmlns:a="http://schemas.openxmlformats.org/drawingml/2006/main">
            <a:off x="1428750" y="2705100"/>
            <a:ext cx="53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090D12"/>
                </a:solidFill>
                <a:latin typeface="Avenir Next"/>
                <a:ea typeface="Avenir Next"/>
                <a:cs typeface="Avenir Next"/>
              </a:defRPr>
            </a:pPr>
            <a:r>
              <a:rPr sz="1650" b="1">
                <a:solidFill>
                  <a:srgbClr val="090D12"/>
                </a:solidFill>
                <a:latin typeface="Avenir Next"/>
                <a:ea typeface="Avenir Next"/>
                <a:cs typeface="Avenir Next"/>
              </a:rPr>
              <a:t>1</a:t>
            </a:r>
          </a:p>
        </p:txBody>
      </p:sp>
      <p:sp>
        <p:nvSpPr>
          <p:cNvPr id="8" name="">
            <a:extLst xmlns:a="http://schemas.openxmlformats.org/drawingml/2006/main">
              <a:ext uri="{FF2B5EF4-FFF2-40B4-BE49-F238E27FC236}">
                <a16:creationId xmlns:a16="http://schemas.microsoft.com/office/drawing/2014/main" id="{33DE96DD-B838-4AE5-85EE-818D27FA863E}"/>
              </a:ext>
            </a:extLst>
          </p:cNvPr>
          <p:cNvSpPr>
            <a:spLocks xmlns:a="http://schemas.openxmlformats.org/drawingml/2006/main" noGrp="1"/>
          </p:cNvSpPr>
          <p:nvPr/>
        </p:nvSpPr>
        <p:spPr>
          <a:xfrm xmlns:a="http://schemas.openxmlformats.org/drawingml/2006/main">
            <a:off x="762000" y="1952625"/>
            <a:ext cx="186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E8EDF3"/>
                </a:solidFill>
                <a:latin typeface="Avenir Next"/>
                <a:ea typeface="Avenir Next"/>
                <a:cs typeface="Avenir Next"/>
              </a:defRPr>
            </a:pPr>
            <a:r>
              <a:rPr sz="1875" b="1">
                <a:solidFill>
                  <a:srgbClr val="E8EDF3"/>
                </a:solidFill>
                <a:latin typeface="Avenir Next"/>
                <a:ea typeface="Avenir Next"/>
                <a:cs typeface="Avenir Next"/>
              </a:rPr>
              <a:t>Replay</a:t>
            </a:r>
          </a:p>
        </p:txBody>
      </p:sp>
      <p:sp>
        <p:nvSpPr>
          <p:cNvPr id="9" name="">
            <a:extLst xmlns:a="http://schemas.openxmlformats.org/drawingml/2006/main">
              <a:ext uri="{FF2B5EF4-FFF2-40B4-BE49-F238E27FC236}">
                <a16:creationId xmlns:a16="http://schemas.microsoft.com/office/drawing/2014/main" id="{B1CE2822-26F0-422B-B90F-EF3D9874ED01}"/>
              </a:ext>
            </a:extLst>
          </p:cNvPr>
          <p:cNvSpPr>
            <a:spLocks xmlns:a="http://schemas.openxmlformats.org/drawingml/2006/main" noGrp="1"/>
          </p:cNvSpPr>
          <p:nvPr/>
        </p:nvSpPr>
        <p:spPr>
          <a:xfrm xmlns:a="http://schemas.openxmlformats.org/drawingml/2006/main">
            <a:off x="762000" y="3476625"/>
            <a:ext cx="18669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8D9AA8"/>
                </a:solidFill>
                <a:latin typeface="Avenir Next"/>
                <a:ea typeface="Avenir Next"/>
                <a:cs typeface="Avenir Next"/>
              </a:defRPr>
            </a:pPr>
            <a:r>
              <a:rPr sz="1200" b="0">
                <a:solidFill>
                  <a:srgbClr val="8D9AA8"/>
                </a:solidFill>
                <a:latin typeface="Avenir Next"/>
                <a:ea typeface="Avenir Next"/>
                <a:cs typeface="Avenir Next"/>
              </a:rPr>
              <a:t>Rate, limit, severity, type, and ordering</a:t>
            </a:r>
          </a:p>
        </p:txBody>
      </p:sp>
      <p:sp>
        <p:nvSpPr>
          <p:cNvPr id="10" name="">
            <a:extLst xmlns:a="http://schemas.openxmlformats.org/drawingml/2006/main">
              <a:ext uri="{FF2B5EF4-FFF2-40B4-BE49-F238E27FC236}">
                <a16:creationId xmlns:a16="http://schemas.microsoft.com/office/drawing/2014/main" id="{D75671E7-DBE2-464F-AF0E-36F057AA5393}"/>
              </a:ext>
            </a:extLst>
          </p:cNvPr>
          <p:cNvSpPr>
            <a:spLocks xmlns:a="http://schemas.openxmlformats.org/drawingml/2006/main" noGrp="1"/>
          </p:cNvSpPr>
          <p:nvPr/>
        </p:nvSpPr>
        <p:spPr>
          <a:xfrm xmlns:a="http://schemas.openxmlformats.org/drawingml/2006/main">
            <a:off x="3695700" y="2657475"/>
            <a:ext cx="533400" cy="533400"/>
          </a:xfrm>
          <a:prstGeom xmlns:a="http://schemas.openxmlformats.org/drawingml/2006/main" prst="ellipse">
            <a:avLst/>
          </a:prstGeom>
          <a:solidFill xmlns:a="http://schemas.openxmlformats.org/drawingml/2006/main">
            <a:srgbClr val="FF9F43"/>
          </a:solidFill>
          <a:ln xmlns:a="http://schemas.openxmlformats.org/drawingml/2006/main" w="9525">
            <a:solidFill>
              <a:srgbClr val="FF9F43"/>
            </a:solidFill>
            <a:prstDash val="solid"/>
          </a:ln>
        </p:spPr>
      </p:sp>
      <p:sp>
        <p:nvSpPr>
          <p:cNvPr id="11" name="">
            <a:extLst xmlns:a="http://schemas.openxmlformats.org/drawingml/2006/main">
              <a:ext uri="{FF2B5EF4-FFF2-40B4-BE49-F238E27FC236}">
                <a16:creationId xmlns:a16="http://schemas.microsoft.com/office/drawing/2014/main" id="{A0352186-DC9D-4B99-88A4-33A36EC27F3A}"/>
              </a:ext>
            </a:extLst>
          </p:cNvPr>
          <p:cNvSpPr>
            <a:spLocks xmlns:a="http://schemas.openxmlformats.org/drawingml/2006/main" noGrp="1"/>
          </p:cNvSpPr>
          <p:nvPr/>
        </p:nvSpPr>
        <p:spPr>
          <a:xfrm xmlns:a="http://schemas.openxmlformats.org/drawingml/2006/main">
            <a:off x="3695700" y="2705100"/>
            <a:ext cx="53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090D12"/>
                </a:solidFill>
                <a:latin typeface="Avenir Next"/>
                <a:ea typeface="Avenir Next"/>
                <a:cs typeface="Avenir Next"/>
              </a:defRPr>
            </a:pPr>
            <a:r>
              <a:rPr sz="1650" b="1">
                <a:solidFill>
                  <a:srgbClr val="090D12"/>
                </a:solidFill>
                <a:latin typeface="Avenir Next"/>
                <a:ea typeface="Avenir Next"/>
                <a:cs typeface="Avenir Next"/>
              </a:rPr>
              <a:t>2</a:t>
            </a:r>
          </a:p>
        </p:txBody>
      </p:sp>
      <p:sp>
        <p:nvSpPr>
          <p:cNvPr id="12" name="">
            <a:extLst xmlns:a="http://schemas.openxmlformats.org/drawingml/2006/main">
              <a:ext uri="{FF2B5EF4-FFF2-40B4-BE49-F238E27FC236}">
                <a16:creationId xmlns:a16="http://schemas.microsoft.com/office/drawing/2014/main" id="{FCFB1A33-056F-4F16-97BB-BB003EAB4F61}"/>
              </a:ext>
            </a:extLst>
          </p:cNvPr>
          <p:cNvSpPr>
            <a:spLocks xmlns:a="http://schemas.openxmlformats.org/drawingml/2006/main" noGrp="1"/>
          </p:cNvSpPr>
          <p:nvPr/>
        </p:nvSpPr>
        <p:spPr>
          <a:xfrm xmlns:a="http://schemas.openxmlformats.org/drawingml/2006/main">
            <a:off x="3028950" y="1952625"/>
            <a:ext cx="186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E8EDF3"/>
                </a:solidFill>
                <a:latin typeface="Avenir Next"/>
                <a:ea typeface="Avenir Next"/>
                <a:cs typeface="Avenir Next"/>
              </a:defRPr>
            </a:pPr>
            <a:r>
              <a:rPr sz="1875" b="1">
                <a:solidFill>
                  <a:srgbClr val="E8EDF3"/>
                </a:solidFill>
                <a:latin typeface="Avenir Next"/>
                <a:ea typeface="Avenir Next"/>
                <a:cs typeface="Avenir Next"/>
              </a:rPr>
              <a:t>Observe</a:t>
            </a:r>
          </a:p>
        </p:txBody>
      </p:sp>
      <p:sp>
        <p:nvSpPr>
          <p:cNvPr id="13" name="">
            <a:extLst xmlns:a="http://schemas.openxmlformats.org/drawingml/2006/main">
              <a:ext uri="{FF2B5EF4-FFF2-40B4-BE49-F238E27FC236}">
                <a16:creationId xmlns:a16="http://schemas.microsoft.com/office/drawing/2014/main" id="{74DF8DB4-7389-4753-9D10-482153A2B421}"/>
              </a:ext>
            </a:extLst>
          </p:cNvPr>
          <p:cNvSpPr>
            <a:spLocks xmlns:a="http://schemas.openxmlformats.org/drawingml/2006/main" noGrp="1"/>
          </p:cNvSpPr>
          <p:nvPr/>
        </p:nvSpPr>
        <p:spPr>
          <a:xfrm xmlns:a="http://schemas.openxmlformats.org/drawingml/2006/main">
            <a:off x="3028950" y="3476625"/>
            <a:ext cx="18669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8D9AA8"/>
                </a:solidFill>
                <a:latin typeface="Avenir Next"/>
                <a:ea typeface="Avenir Next"/>
                <a:cs typeface="Avenir Next"/>
              </a:defRPr>
            </a:pPr>
            <a:r>
              <a:rPr sz="1200" b="0">
                <a:solidFill>
                  <a:srgbClr val="8D9AA8"/>
                </a:solidFill>
                <a:latin typeface="Avenir Next"/>
                <a:ea typeface="Avenir Next"/>
                <a:cs typeface="Avenir Next"/>
              </a:rPr>
              <a:t>Live counters, trends, and searchable events</a:t>
            </a:r>
          </a:p>
        </p:txBody>
      </p:sp>
      <p:sp>
        <p:nvSpPr>
          <p:cNvPr id="14" name="">
            <a:extLst xmlns:a="http://schemas.openxmlformats.org/drawingml/2006/main">
              <a:ext uri="{FF2B5EF4-FFF2-40B4-BE49-F238E27FC236}">
                <a16:creationId xmlns:a16="http://schemas.microsoft.com/office/drawing/2014/main" id="{EA2AA292-F205-44F1-8667-174C4F3A9252}"/>
              </a:ext>
            </a:extLst>
          </p:cNvPr>
          <p:cNvSpPr>
            <a:spLocks xmlns:a="http://schemas.openxmlformats.org/drawingml/2006/main" noGrp="1"/>
          </p:cNvSpPr>
          <p:nvPr/>
        </p:nvSpPr>
        <p:spPr>
          <a:xfrm xmlns:a="http://schemas.openxmlformats.org/drawingml/2006/main">
            <a:off x="5962650" y="2657475"/>
            <a:ext cx="533400" cy="533400"/>
          </a:xfrm>
          <a:prstGeom xmlns:a="http://schemas.openxmlformats.org/drawingml/2006/main" prst="ellipse">
            <a:avLst/>
          </a:prstGeom>
          <a:solidFill xmlns:a="http://schemas.openxmlformats.org/drawingml/2006/main">
            <a:srgbClr val="FF9F43"/>
          </a:solidFill>
          <a:ln xmlns:a="http://schemas.openxmlformats.org/drawingml/2006/main" w="9525">
            <a:solidFill>
              <a:srgbClr val="FF9F43"/>
            </a:solidFill>
            <a:prstDash val="solid"/>
          </a:ln>
        </p:spPr>
      </p:sp>
      <p:sp>
        <p:nvSpPr>
          <p:cNvPr id="15" name="">
            <a:extLst xmlns:a="http://schemas.openxmlformats.org/drawingml/2006/main">
              <a:ext uri="{FF2B5EF4-FFF2-40B4-BE49-F238E27FC236}">
                <a16:creationId xmlns:a16="http://schemas.microsoft.com/office/drawing/2014/main" id="{83977624-CF47-44CD-84CF-E652C18F6CC0}"/>
              </a:ext>
            </a:extLst>
          </p:cNvPr>
          <p:cNvSpPr>
            <a:spLocks xmlns:a="http://schemas.openxmlformats.org/drawingml/2006/main" noGrp="1"/>
          </p:cNvSpPr>
          <p:nvPr/>
        </p:nvSpPr>
        <p:spPr>
          <a:xfrm xmlns:a="http://schemas.openxmlformats.org/drawingml/2006/main">
            <a:off x="5962650" y="2705100"/>
            <a:ext cx="53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090D12"/>
                </a:solidFill>
                <a:latin typeface="Avenir Next"/>
                <a:ea typeface="Avenir Next"/>
                <a:cs typeface="Avenir Next"/>
              </a:defRPr>
            </a:pPr>
            <a:r>
              <a:rPr sz="1650" b="1">
                <a:solidFill>
                  <a:srgbClr val="090D12"/>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30CCC119-49B6-4362-8799-76B400461D12}"/>
              </a:ext>
            </a:extLst>
          </p:cNvPr>
          <p:cNvSpPr>
            <a:spLocks xmlns:a="http://schemas.openxmlformats.org/drawingml/2006/main" noGrp="1"/>
          </p:cNvSpPr>
          <p:nvPr/>
        </p:nvSpPr>
        <p:spPr>
          <a:xfrm xmlns:a="http://schemas.openxmlformats.org/drawingml/2006/main">
            <a:off x="5295900" y="1952625"/>
            <a:ext cx="186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E8EDF3"/>
                </a:solidFill>
                <a:latin typeface="Avenir Next"/>
                <a:ea typeface="Avenir Next"/>
                <a:cs typeface="Avenir Next"/>
              </a:defRPr>
            </a:pPr>
            <a:r>
              <a:rPr sz="1875" b="1">
                <a:solidFill>
                  <a:srgbClr val="E8EDF3"/>
                </a:solidFill>
                <a:latin typeface="Avenir Next"/>
                <a:ea typeface="Avenir Next"/>
                <a:cs typeface="Avenir Next"/>
              </a:rPr>
              <a:t>Inspect</a:t>
            </a:r>
          </a:p>
        </p:txBody>
      </p:sp>
      <p:sp>
        <p:nvSpPr>
          <p:cNvPr id="17" name="">
            <a:extLst xmlns:a="http://schemas.openxmlformats.org/drawingml/2006/main">
              <a:ext uri="{FF2B5EF4-FFF2-40B4-BE49-F238E27FC236}">
                <a16:creationId xmlns:a16="http://schemas.microsoft.com/office/drawing/2014/main" id="{D9D61F20-644B-4996-93E2-6678AFCA6F28}"/>
              </a:ext>
            </a:extLst>
          </p:cNvPr>
          <p:cNvSpPr>
            <a:spLocks xmlns:a="http://schemas.openxmlformats.org/drawingml/2006/main" noGrp="1"/>
          </p:cNvSpPr>
          <p:nvPr/>
        </p:nvSpPr>
        <p:spPr>
          <a:xfrm xmlns:a="http://schemas.openxmlformats.org/drawingml/2006/main">
            <a:off x="5295900" y="3476625"/>
            <a:ext cx="18669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8D9AA8"/>
                </a:solidFill>
                <a:latin typeface="Avenir Next"/>
                <a:ea typeface="Avenir Next"/>
                <a:cs typeface="Avenir Next"/>
              </a:defRPr>
            </a:pPr>
            <a:r>
              <a:rPr sz="1200" b="0">
                <a:solidFill>
                  <a:srgbClr val="8D9AA8"/>
                </a:solidFill>
                <a:latin typeface="Avenir Next"/>
                <a:ea typeface="Avenir Next"/>
                <a:cs typeface="Avenir Next"/>
              </a:rPr>
              <a:t>Normalized fields, raw log, and original JSON</a:t>
            </a:r>
          </a:p>
        </p:txBody>
      </p:sp>
      <p:sp>
        <p:nvSpPr>
          <p:cNvPr id="18" name="">
            <a:extLst xmlns:a="http://schemas.openxmlformats.org/drawingml/2006/main">
              <a:ext uri="{FF2B5EF4-FFF2-40B4-BE49-F238E27FC236}">
                <a16:creationId xmlns:a16="http://schemas.microsoft.com/office/drawing/2014/main" id="{CC0E153C-1106-402B-841A-C0B9E33EA2D7}"/>
              </a:ext>
            </a:extLst>
          </p:cNvPr>
          <p:cNvSpPr>
            <a:spLocks xmlns:a="http://schemas.openxmlformats.org/drawingml/2006/main" noGrp="1"/>
          </p:cNvSpPr>
          <p:nvPr/>
        </p:nvSpPr>
        <p:spPr>
          <a:xfrm xmlns:a="http://schemas.openxmlformats.org/drawingml/2006/main">
            <a:off x="8229600" y="2657475"/>
            <a:ext cx="533400" cy="533400"/>
          </a:xfrm>
          <a:prstGeom xmlns:a="http://schemas.openxmlformats.org/drawingml/2006/main" prst="ellipse">
            <a:avLst/>
          </a:prstGeom>
          <a:solidFill xmlns:a="http://schemas.openxmlformats.org/drawingml/2006/main">
            <a:srgbClr val="FF9F43"/>
          </a:solidFill>
          <a:ln xmlns:a="http://schemas.openxmlformats.org/drawingml/2006/main" w="9525">
            <a:solidFill>
              <a:srgbClr val="FF9F43"/>
            </a:solidFill>
            <a:prstDash val="solid"/>
          </a:ln>
        </p:spPr>
      </p:sp>
      <p:sp>
        <p:nvSpPr>
          <p:cNvPr id="19" name="">
            <a:extLst xmlns:a="http://schemas.openxmlformats.org/drawingml/2006/main">
              <a:ext uri="{FF2B5EF4-FFF2-40B4-BE49-F238E27FC236}">
                <a16:creationId xmlns:a16="http://schemas.microsoft.com/office/drawing/2014/main" id="{55E8C5B2-4953-4091-B021-FECA4AD0D4FB}"/>
              </a:ext>
            </a:extLst>
          </p:cNvPr>
          <p:cNvSpPr>
            <a:spLocks xmlns:a="http://schemas.openxmlformats.org/drawingml/2006/main" noGrp="1"/>
          </p:cNvSpPr>
          <p:nvPr/>
        </p:nvSpPr>
        <p:spPr>
          <a:xfrm xmlns:a="http://schemas.openxmlformats.org/drawingml/2006/main">
            <a:off x="8229600" y="2705100"/>
            <a:ext cx="53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090D12"/>
                </a:solidFill>
                <a:latin typeface="Avenir Next"/>
                <a:ea typeface="Avenir Next"/>
                <a:cs typeface="Avenir Next"/>
              </a:defRPr>
            </a:pPr>
            <a:r>
              <a:rPr sz="1650" b="1">
                <a:solidFill>
                  <a:srgbClr val="090D12"/>
                </a:solidFill>
                <a:latin typeface="Avenir Next"/>
                <a:ea typeface="Avenir Next"/>
                <a:cs typeface="Avenir Next"/>
              </a:rPr>
              <a:t>4</a:t>
            </a:r>
          </a:p>
        </p:txBody>
      </p:sp>
      <p:sp>
        <p:nvSpPr>
          <p:cNvPr id="20" name="">
            <a:extLst xmlns:a="http://schemas.openxmlformats.org/drawingml/2006/main">
              <a:ext uri="{FF2B5EF4-FFF2-40B4-BE49-F238E27FC236}">
                <a16:creationId xmlns:a16="http://schemas.microsoft.com/office/drawing/2014/main" id="{667C62D3-A6CC-4CDA-BFF1-8B25E70ED345}"/>
              </a:ext>
            </a:extLst>
          </p:cNvPr>
          <p:cNvSpPr>
            <a:spLocks xmlns:a="http://schemas.openxmlformats.org/drawingml/2006/main" noGrp="1"/>
          </p:cNvSpPr>
          <p:nvPr/>
        </p:nvSpPr>
        <p:spPr>
          <a:xfrm xmlns:a="http://schemas.openxmlformats.org/drawingml/2006/main">
            <a:off x="7562850" y="1952625"/>
            <a:ext cx="186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E8EDF3"/>
                </a:solidFill>
                <a:latin typeface="Avenir Next"/>
                <a:ea typeface="Avenir Next"/>
                <a:cs typeface="Avenir Next"/>
              </a:defRPr>
            </a:pPr>
            <a:r>
              <a:rPr sz="1875" b="1">
                <a:solidFill>
                  <a:srgbClr val="E8EDF3"/>
                </a:solidFill>
                <a:latin typeface="Avenir Next"/>
                <a:ea typeface="Avenir Next"/>
                <a:cs typeface="Avenir Next"/>
              </a:rPr>
              <a:t>Review</a:t>
            </a:r>
          </a:p>
        </p:txBody>
      </p:sp>
      <p:sp>
        <p:nvSpPr>
          <p:cNvPr id="21" name="">
            <a:extLst xmlns:a="http://schemas.openxmlformats.org/drawingml/2006/main">
              <a:ext uri="{FF2B5EF4-FFF2-40B4-BE49-F238E27FC236}">
                <a16:creationId xmlns:a16="http://schemas.microsoft.com/office/drawing/2014/main" id="{6CF93C63-F0F6-4C10-AE41-3FDB45BE16DA}"/>
              </a:ext>
            </a:extLst>
          </p:cNvPr>
          <p:cNvSpPr>
            <a:spLocks xmlns:a="http://schemas.openxmlformats.org/drawingml/2006/main" noGrp="1"/>
          </p:cNvSpPr>
          <p:nvPr/>
        </p:nvSpPr>
        <p:spPr>
          <a:xfrm xmlns:a="http://schemas.openxmlformats.org/drawingml/2006/main">
            <a:off x="7562850" y="3476625"/>
            <a:ext cx="18669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8D9AA8"/>
                </a:solidFill>
                <a:latin typeface="Avenir Next"/>
                <a:ea typeface="Avenir Next"/>
                <a:cs typeface="Avenir Next"/>
              </a:defRPr>
            </a:pPr>
            <a:r>
              <a:rPr sz="1200" b="0">
                <a:solidFill>
                  <a:srgbClr val="8D9AA8"/>
                </a:solidFill>
                <a:latin typeface="Avenir Next"/>
                <a:ea typeface="Avenir Next"/>
                <a:cs typeface="Avenir Next"/>
              </a:rPr>
              <a:t>New, Investigating, Resolved, or Dismissed</a:t>
            </a:r>
          </a:p>
        </p:txBody>
      </p:sp>
      <p:sp>
        <p:nvSpPr>
          <p:cNvPr id="22" name="">
            <a:extLst xmlns:a="http://schemas.openxmlformats.org/drawingml/2006/main">
              <a:ext uri="{FF2B5EF4-FFF2-40B4-BE49-F238E27FC236}">
                <a16:creationId xmlns:a16="http://schemas.microsoft.com/office/drawing/2014/main" id="{B28425BE-F6D1-42EF-B4F7-C20197FE9373}"/>
              </a:ext>
            </a:extLst>
          </p:cNvPr>
          <p:cNvSpPr>
            <a:spLocks xmlns:a="http://schemas.openxmlformats.org/drawingml/2006/main" noGrp="1"/>
          </p:cNvSpPr>
          <p:nvPr/>
        </p:nvSpPr>
        <p:spPr>
          <a:xfrm xmlns:a="http://schemas.openxmlformats.org/drawingml/2006/main">
            <a:off x="10496550" y="2657475"/>
            <a:ext cx="533400" cy="533400"/>
          </a:xfrm>
          <a:prstGeom xmlns:a="http://schemas.openxmlformats.org/drawingml/2006/main" prst="ellipse">
            <a:avLst/>
          </a:prstGeom>
          <a:solidFill xmlns:a="http://schemas.openxmlformats.org/drawingml/2006/main">
            <a:srgbClr val="EF5747"/>
          </a:solidFill>
          <a:ln xmlns:a="http://schemas.openxmlformats.org/drawingml/2006/main" w="9525">
            <a:solidFill>
              <a:srgbClr val="EF5747"/>
            </a:solidFill>
            <a:prstDash val="solid"/>
          </a:ln>
        </p:spPr>
      </p:sp>
      <p:sp>
        <p:nvSpPr>
          <p:cNvPr id="23" name="">
            <a:extLst xmlns:a="http://schemas.openxmlformats.org/drawingml/2006/main">
              <a:ext uri="{FF2B5EF4-FFF2-40B4-BE49-F238E27FC236}">
                <a16:creationId xmlns:a16="http://schemas.microsoft.com/office/drawing/2014/main" id="{D939141E-AC25-416C-AA18-D097F08ECF28}"/>
              </a:ext>
            </a:extLst>
          </p:cNvPr>
          <p:cNvSpPr>
            <a:spLocks xmlns:a="http://schemas.openxmlformats.org/drawingml/2006/main" noGrp="1"/>
          </p:cNvSpPr>
          <p:nvPr/>
        </p:nvSpPr>
        <p:spPr>
          <a:xfrm xmlns:a="http://schemas.openxmlformats.org/drawingml/2006/main">
            <a:off x="10496550" y="2705100"/>
            <a:ext cx="53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090D12"/>
                </a:solidFill>
                <a:latin typeface="Avenir Next"/>
                <a:ea typeface="Avenir Next"/>
                <a:cs typeface="Avenir Next"/>
              </a:defRPr>
            </a:pPr>
            <a:r>
              <a:rPr sz="1650" b="1">
                <a:solidFill>
                  <a:srgbClr val="090D12"/>
                </a:solidFill>
                <a:latin typeface="Avenir Next"/>
                <a:ea typeface="Avenir Next"/>
                <a:cs typeface="Avenir Next"/>
              </a:rPr>
              <a:t>5</a:t>
            </a:r>
          </a:p>
        </p:txBody>
      </p:sp>
      <p:sp>
        <p:nvSpPr>
          <p:cNvPr id="24" name="">
            <a:extLst xmlns:a="http://schemas.openxmlformats.org/drawingml/2006/main">
              <a:ext uri="{FF2B5EF4-FFF2-40B4-BE49-F238E27FC236}">
                <a16:creationId xmlns:a16="http://schemas.microsoft.com/office/drawing/2014/main" id="{F4632A36-373C-47B6-85E8-7AF3301A525C}"/>
              </a:ext>
            </a:extLst>
          </p:cNvPr>
          <p:cNvSpPr>
            <a:spLocks xmlns:a="http://schemas.openxmlformats.org/drawingml/2006/main" noGrp="1"/>
          </p:cNvSpPr>
          <p:nvPr/>
        </p:nvSpPr>
        <p:spPr>
          <a:xfrm xmlns:a="http://schemas.openxmlformats.org/drawingml/2006/main">
            <a:off x="9829800" y="1952625"/>
            <a:ext cx="186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E8EDF3"/>
                </a:solidFill>
                <a:latin typeface="Avenir Next"/>
                <a:ea typeface="Avenir Next"/>
                <a:cs typeface="Avenir Next"/>
              </a:defRPr>
            </a:pPr>
            <a:r>
              <a:rPr sz="1875" b="1">
                <a:solidFill>
                  <a:srgbClr val="E8EDF3"/>
                </a:solidFill>
                <a:latin typeface="Avenir Next"/>
                <a:ea typeface="Avenir Next"/>
                <a:cs typeface="Avenir Next"/>
              </a:rPr>
              <a:t>Notify</a:t>
            </a:r>
          </a:p>
        </p:txBody>
      </p:sp>
      <p:sp>
        <p:nvSpPr>
          <p:cNvPr id="25" name="">
            <a:extLst xmlns:a="http://schemas.openxmlformats.org/drawingml/2006/main">
              <a:ext uri="{FF2B5EF4-FFF2-40B4-BE49-F238E27FC236}">
                <a16:creationId xmlns:a16="http://schemas.microsoft.com/office/drawing/2014/main" id="{D6089EC8-B5B0-467B-98E4-247F791B0049}"/>
              </a:ext>
            </a:extLst>
          </p:cNvPr>
          <p:cNvSpPr>
            <a:spLocks xmlns:a="http://schemas.openxmlformats.org/drawingml/2006/main" noGrp="1"/>
          </p:cNvSpPr>
          <p:nvPr/>
        </p:nvSpPr>
        <p:spPr>
          <a:xfrm xmlns:a="http://schemas.openxmlformats.org/drawingml/2006/main">
            <a:off x="9829800" y="3476625"/>
            <a:ext cx="18669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8D9AA8"/>
                </a:solidFill>
                <a:latin typeface="Avenir Next"/>
                <a:ea typeface="Avenir Next"/>
                <a:cs typeface="Avenir Next"/>
              </a:defRPr>
            </a:pPr>
            <a:r>
              <a:rPr sz="1200" b="0">
                <a:solidFill>
                  <a:srgbClr val="8D9AA8"/>
                </a:solidFill>
                <a:latin typeface="Avenir Next"/>
                <a:ea typeface="Avenir Next"/>
                <a:cs typeface="Avenir Next"/>
              </a:rPr>
              <a:t>Critical cards still under active review</a:t>
            </a:r>
          </a:p>
        </p:txBody>
      </p:sp>
      <p:sp>
        <p:nvSpPr>
          <p:cNvPr id="26" name="">
            <a:extLst xmlns:a="http://schemas.openxmlformats.org/drawingml/2006/main">
              <a:ext uri="{FF2B5EF4-FFF2-40B4-BE49-F238E27FC236}">
                <a16:creationId xmlns:a16="http://schemas.microsoft.com/office/drawing/2014/main" id="{258A3EB4-1DE5-4E4E-8ECA-F1EF294A63C5}"/>
              </a:ext>
            </a:extLst>
          </p:cNvPr>
          <p:cNvSpPr>
            <a:spLocks xmlns:a="http://schemas.openxmlformats.org/drawingml/2006/main" noGrp="1"/>
          </p:cNvSpPr>
          <p:nvPr/>
        </p:nvSpPr>
        <p:spPr>
          <a:xfrm xmlns:a="http://schemas.openxmlformats.org/drawingml/2006/main">
            <a:off x="1600200" y="4857750"/>
            <a:ext cx="8991600" cy="742950"/>
          </a:xfrm>
          <a:prstGeom xmlns:a="http://schemas.openxmlformats.org/drawingml/2006/main" prst="roundRect">
            <a:avLst>
              <a:gd name="adj" fmla="val 15385"/>
            </a:avLst>
          </a:prstGeom>
          <a:solidFill xmlns:a="http://schemas.openxmlformats.org/drawingml/2006/main">
            <a:srgbClr val="141C25"/>
          </a:solidFill>
          <a:ln xmlns:a="http://schemas.openxmlformats.org/drawingml/2006/main" w="19050">
            <a:solidFill>
              <a:srgbClr val="FF9F43"/>
            </a:solidFill>
            <a:prstDash val="solid"/>
          </a:ln>
        </p:spPr>
        <p:txBody>
          <a:bodyPr xmlns:a="http://schemas.openxmlformats.org/drawingml/2006/main" wrap="square" lIns="133350" tIns="114300" rIns="133350" bIns="114300" anchor="ctr">
            <a:normAutofit fontScale="100000"/>
          </a:bodyPr>
          <a:lstStyle xmlns:a="http://schemas.openxmlformats.org/drawingml/2006/main"/>
          <a:p xmlns:a="http://schemas.openxmlformats.org/drawingml/2006/main">
            <a:pPr algn="ctr">
              <a:defRPr sz="1650" b="1">
                <a:solidFill>
                  <a:srgbClr val="E8EDF3"/>
                </a:solidFill>
                <a:latin typeface="Avenir Next"/>
                <a:ea typeface="Avenir Next"/>
                <a:cs typeface="Avenir Next"/>
              </a:defRPr>
            </a:pPr>
            <a:r>
              <a:rPr sz="1650" b="1">
                <a:solidFill>
                  <a:srgbClr val="E8EDF3"/>
                </a:solidFill>
                <a:latin typeface="Avenir Next"/>
                <a:ea typeface="Avenir Next"/>
                <a:cs typeface="Avenir Next"/>
              </a:rPr>
              <a:t>Human boundary: an engineer creates the review card before the notifier can act.</a:t>
            </a:r>
          </a:p>
        </p:txBody>
      </p:sp>
      <p:sp>
        <p:nvSpPr>
          <p:cNvPr id="27" name="">
            <a:extLst xmlns:a="http://schemas.openxmlformats.org/drawingml/2006/main">
              <a:ext uri="{FF2B5EF4-FFF2-40B4-BE49-F238E27FC236}">
                <a16:creationId xmlns:a16="http://schemas.microsoft.com/office/drawing/2014/main" id="{247F78B2-5A0E-4F06-9AF9-F1A99A252A84}"/>
              </a:ext>
            </a:extLst>
          </p:cNvPr>
          <p:cNvSpPr>
            <a:spLocks xmlns:a="http://schemas.openxmlformats.org/drawingml/2006/main" noGrp="1"/>
          </p:cNvSpPr>
          <p:nvPr/>
        </p:nvSpPr>
        <p:spPr>
          <a:xfrm xmlns:a="http://schemas.openxmlformats.org/drawingml/2006/main">
            <a:off x="1600200" y="5829300"/>
            <a:ext cx="8991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8D9AA8"/>
                </a:solidFill>
                <a:latin typeface="Avenir Next"/>
                <a:ea typeface="Avenir Next"/>
                <a:cs typeface="Avenir Next"/>
              </a:defRPr>
            </a:pPr>
            <a:r>
              <a:rPr sz="1200" b="0">
                <a:solidFill>
                  <a:srgbClr val="8D9AA8"/>
                </a:solidFill>
                <a:latin typeface="Avenir Next"/>
                <a:ea typeface="Avenir Next"/>
                <a:cs typeface="Avenir Next"/>
              </a:rPr>
              <a:t>The server checks every 30 seconds. Resolved, Dismissed, noncritical, and previously sent cards are skipped.</a:t>
            </a:r>
          </a:p>
        </p:txBody>
      </p:sp>
      <p:sp>
        <p:nvSpPr>
          <p:cNvPr id="28" name="">
            <a:extLst xmlns:a="http://schemas.openxmlformats.org/drawingml/2006/main">
              <a:ext uri="{FF2B5EF4-FFF2-40B4-BE49-F238E27FC236}">
                <a16:creationId xmlns:a16="http://schemas.microsoft.com/office/drawing/2014/main" id="{9D8659DB-53CB-427F-889A-2EB4FAF62F40}"/>
              </a:ext>
            </a:extLst>
          </p:cNvPr>
          <p:cNvSpPr>
            <a:spLocks xmlns:a="http://schemas.openxmlformats.org/drawingml/2006/main" noGrp="1"/>
          </p:cNvSpPr>
          <p:nvPr/>
        </p:nvSpPr>
        <p:spPr>
          <a:xfrm xmlns:a="http://schemas.openxmlformats.org/drawingml/2006/main">
            <a:off x="590550" y="6553200"/>
            <a:ext cx="6858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8D9AA8"/>
                </a:solidFill>
                <a:latin typeface="Avenir Next"/>
                <a:ea typeface="Avenir Next"/>
                <a:cs typeface="Avenir Next"/>
              </a:defRPr>
            </a:pPr>
            <a:r>
              <a:rPr sz="750" b="1">
                <a:solidFill>
                  <a:srgbClr val="8D9AA8"/>
                </a:solidFill>
                <a:latin typeface="Avenir Next"/>
                <a:ea typeface="Avenir Next"/>
                <a:cs typeface="Avenir Next"/>
              </a:rPr>
              <a:t>SYNTHETIC SIEM DATASET / PROTOTYPE MEASUREMENTS</a:t>
            </a:r>
          </a:p>
        </p:txBody>
      </p:sp>
    </p:spTree>
    <p:extLst>
      <p:ext uri="{BB962C8B-B14F-4D97-AF65-F5344CB8AC3E}">
        <p14:creationId xmlns:p14="http://schemas.microsoft.com/office/powerpoint/2010/main" val="145934355"/>
      </p:ext>
    </p:extLst>
  </p:cSld>
</p:sld>
</file>

<file path=ppt/slides/slide5.xml><?xml version="1.0" encoding="utf-8"?>
<p:sld xmlns:p="http://schemas.openxmlformats.org/presentationml/2006/main">
  <p:cSld>
    <p:bg>
      <p:bgPr>
        <a:solidFill xmlns:a="http://schemas.openxmlformats.org/drawingml/2006/main">
          <a:srgbClr val="090D12"/>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56E72D89-47A7-4EE7-A6D7-32F59B67F64E}"/>
              </a:ext>
            </a:extLst>
          </p:cNvPr>
          <p:cNvSpPr>
            <a:spLocks xmlns:a="http://schemas.openxmlformats.org/drawingml/2006/main" noGrp="1"/>
          </p:cNvSpPr>
          <p:nvPr/>
        </p:nvSpPr>
        <p:spPr>
          <a:xfrm xmlns:a="http://schemas.openxmlformats.org/drawingml/2006/main">
            <a:off x="590550" y="323850"/>
            <a:ext cx="381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F9F43"/>
                </a:solidFill>
                <a:latin typeface="Avenir Next"/>
                <a:ea typeface="Avenir Next"/>
                <a:cs typeface="Avenir Next"/>
              </a:defRPr>
            </a:pPr>
            <a:r>
              <a:rPr sz="1125" b="1">
                <a:solidFill>
                  <a:srgbClr val="FF9F43"/>
                </a:solidFill>
                <a:latin typeface="Avenir Next"/>
                <a:ea typeface="Avenir Next"/>
                <a:cs typeface="Avenir Next"/>
              </a:rPr>
              <a:t>RELIABILITY</a:t>
            </a:r>
          </a:p>
        </p:txBody>
      </p:sp>
      <p:sp>
        <p:nvSpPr>
          <p:cNvPr id="2" name="">
            <a:extLst xmlns:a="http://schemas.openxmlformats.org/drawingml/2006/main">
              <a:ext uri="{FF2B5EF4-FFF2-40B4-BE49-F238E27FC236}">
                <a16:creationId xmlns:a16="http://schemas.microsoft.com/office/drawing/2014/main" id="{588AA283-BF9A-4597-AC62-ADE575CA4FC0}"/>
              </a:ext>
            </a:extLst>
          </p:cNvPr>
          <p:cNvSpPr>
            <a:spLocks xmlns:a="http://schemas.openxmlformats.org/drawingml/2006/main" noGrp="1"/>
          </p:cNvSpPr>
          <p:nvPr/>
        </p:nvSpPr>
        <p:spPr>
          <a:xfrm xmlns:a="http://schemas.openxmlformats.org/drawingml/2006/main">
            <a:off x="590550" y="60960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E8EDF3"/>
                </a:solidFill>
                <a:latin typeface="Avenir Next"/>
                <a:ea typeface="Avenir Next"/>
                <a:cs typeface="Avenir Next"/>
              </a:defRPr>
            </a:pPr>
            <a:r>
              <a:rPr sz="3225" b="1">
                <a:solidFill>
                  <a:srgbClr val="E8EDF3"/>
                </a:solidFill>
                <a:latin typeface="Avenir Next"/>
                <a:ea typeface="Avenir Next"/>
                <a:cs typeface="Avenir Next"/>
              </a:rPr>
              <a:t>Recovery and state integrity</a:t>
            </a:r>
          </a:p>
        </p:txBody>
      </p:sp>
      <p:sp>
        <p:nvSpPr>
          <p:cNvPr id="3" name="">
            <a:extLst xmlns:a="http://schemas.openxmlformats.org/drawingml/2006/main">
              <a:ext uri="{FF2B5EF4-FFF2-40B4-BE49-F238E27FC236}">
                <a16:creationId xmlns:a16="http://schemas.microsoft.com/office/drawing/2014/main" id="{821613AC-F571-482A-84C6-A8402805FACA}"/>
              </a:ext>
            </a:extLst>
          </p:cNvPr>
          <p:cNvSpPr>
            <a:spLocks xmlns:a="http://schemas.openxmlformats.org/drawingml/2006/main" noGrp="1"/>
          </p:cNvSpPr>
          <p:nvPr/>
        </p:nvSpPr>
        <p:spPr>
          <a:xfrm xmlns:a="http://schemas.openxmlformats.org/drawingml/2006/main">
            <a:off x="11144250" y="3810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8D9AA8"/>
                </a:solidFill>
                <a:latin typeface="Avenir Next"/>
                <a:ea typeface="Avenir Next"/>
                <a:cs typeface="Avenir Next"/>
              </a:defRPr>
            </a:pPr>
            <a:r>
              <a:rPr sz="1200" b="1">
                <a:solidFill>
                  <a:srgbClr val="8D9AA8"/>
                </a:solidFill>
                <a:latin typeface="Avenir Next"/>
                <a:ea typeface="Avenir Next"/>
                <a:cs typeface="Avenir Next"/>
              </a:rPr>
              <a:t>05</a:t>
            </a:r>
          </a:p>
        </p:txBody>
      </p:sp>
      <p:sp>
        <p:nvSpPr>
          <p:cNvPr id="4" name="">
            <a:extLst xmlns:a="http://schemas.openxmlformats.org/drawingml/2006/main">
              <a:ext uri="{FF2B5EF4-FFF2-40B4-BE49-F238E27FC236}">
                <a16:creationId xmlns:a16="http://schemas.microsoft.com/office/drawing/2014/main" id="{C2988F42-2CDD-4F69-955F-8E0E2C478A5E}"/>
              </a:ext>
            </a:extLst>
          </p:cNvPr>
          <p:cNvSpPr>
            <a:spLocks xmlns:a="http://schemas.openxmlformats.org/drawingml/2006/main" noGrp="1"/>
          </p:cNvSpPr>
          <p:nvPr/>
        </p:nvSpPr>
        <p:spPr>
          <a:xfrm xmlns:a="http://schemas.openxmlformats.org/drawingml/2006/main">
            <a:off x="590550" y="1219200"/>
            <a:ext cx="11010900" cy="9525"/>
          </a:xfrm>
          <a:prstGeom xmlns:a="http://schemas.openxmlformats.org/drawingml/2006/main" prst="line">
            <a:avLst/>
          </a:prstGeom>
          <a:noFill xmlns:a="http://schemas.openxmlformats.org/drawingml/2006/main"/>
          <a:ln xmlns:a="http://schemas.openxmlformats.org/drawingml/2006/main" w="9525">
            <a:solidFill>
              <a:srgbClr val="2A343F"/>
            </a:solidFill>
            <a:prstDash val="solid"/>
          </a:ln>
        </p:spPr>
      </p:sp>
      <p:sp>
        <p:nvSpPr>
          <p:cNvPr id="5" name="">
            <a:extLst xmlns:a="http://schemas.openxmlformats.org/drawingml/2006/main">
              <a:ext uri="{FF2B5EF4-FFF2-40B4-BE49-F238E27FC236}">
                <a16:creationId xmlns:a16="http://schemas.microsoft.com/office/drawing/2014/main" id="{21641B9F-BA30-4140-946B-0FF845502F87}"/>
              </a:ext>
            </a:extLst>
          </p:cNvPr>
          <p:cNvSpPr>
            <a:spLocks xmlns:a="http://schemas.openxmlformats.org/drawingml/2006/main" noGrp="1"/>
          </p:cNvSpPr>
          <p:nvPr/>
        </p:nvSpPr>
        <p:spPr>
          <a:xfrm xmlns:a="http://schemas.openxmlformats.org/drawingml/2006/main">
            <a:off x="742950" y="1666875"/>
            <a:ext cx="1190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F9F43"/>
                </a:solidFill>
                <a:latin typeface="Avenir Next"/>
                <a:ea typeface="Avenir Next"/>
                <a:cs typeface="Avenir Next"/>
              </a:defRPr>
            </a:pPr>
            <a:r>
              <a:rPr sz="1125" b="1">
                <a:solidFill>
                  <a:srgbClr val="FF9F43"/>
                </a:solidFill>
                <a:latin typeface="Avenir Next"/>
                <a:ea typeface="Avenir Next"/>
                <a:cs typeface="Avenir Next"/>
              </a:rPr>
              <a:t>DATASET</a:t>
            </a:r>
          </a:p>
        </p:txBody>
      </p:sp>
      <p:sp>
        <p:nvSpPr>
          <p:cNvPr id="6" name="">
            <a:extLst xmlns:a="http://schemas.openxmlformats.org/drawingml/2006/main">
              <a:ext uri="{FF2B5EF4-FFF2-40B4-BE49-F238E27FC236}">
                <a16:creationId xmlns:a16="http://schemas.microsoft.com/office/drawing/2014/main" id="{775C0974-EFD1-47AD-AC7A-6D19D37F2971}"/>
              </a:ext>
            </a:extLst>
          </p:cNvPr>
          <p:cNvSpPr>
            <a:spLocks xmlns:a="http://schemas.openxmlformats.org/drawingml/2006/main" noGrp="1"/>
          </p:cNvSpPr>
          <p:nvPr/>
        </p:nvSpPr>
        <p:spPr>
          <a:xfrm xmlns:a="http://schemas.openxmlformats.org/drawingml/2006/main">
            <a:off x="2076450" y="16002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E8EDF3"/>
                </a:solidFill>
                <a:latin typeface="Avenir Next"/>
                <a:ea typeface="Avenir Next"/>
                <a:cs typeface="Avenir Next"/>
              </a:defRPr>
            </a:pPr>
            <a:r>
              <a:rPr sz="1575" b="1">
                <a:solidFill>
                  <a:srgbClr val="E8EDF3"/>
                </a:solidFill>
                <a:latin typeface="Avenir Next"/>
                <a:ea typeface="Avenir Next"/>
                <a:cs typeface="Avenir Next"/>
              </a:rPr>
              <a:t>Pinned revision and checksum verification</a:t>
            </a:r>
          </a:p>
        </p:txBody>
      </p:sp>
      <p:sp>
        <p:nvSpPr>
          <p:cNvPr id="7" name="">
            <a:extLst xmlns:a="http://schemas.openxmlformats.org/drawingml/2006/main">
              <a:ext uri="{FF2B5EF4-FFF2-40B4-BE49-F238E27FC236}">
                <a16:creationId xmlns:a16="http://schemas.microsoft.com/office/drawing/2014/main" id="{87475027-36E1-4646-9D33-7AA3CE64763A}"/>
              </a:ext>
            </a:extLst>
          </p:cNvPr>
          <p:cNvSpPr>
            <a:spLocks xmlns:a="http://schemas.openxmlformats.org/drawingml/2006/main" noGrp="1"/>
          </p:cNvSpPr>
          <p:nvPr/>
        </p:nvSpPr>
        <p:spPr>
          <a:xfrm xmlns:a="http://schemas.openxmlformats.org/drawingml/2006/main">
            <a:off x="742950" y="2057400"/>
            <a:ext cx="7620000" cy="9525"/>
          </a:xfrm>
          <a:prstGeom xmlns:a="http://schemas.openxmlformats.org/drawingml/2006/main" prst="line">
            <a:avLst/>
          </a:prstGeom>
          <a:noFill xmlns:a="http://schemas.openxmlformats.org/drawingml/2006/main"/>
          <a:ln xmlns:a="http://schemas.openxmlformats.org/drawingml/2006/main" w="9525">
            <a:solidFill>
              <a:srgbClr val="2A343F"/>
            </a:solidFill>
            <a:prstDash val="solid"/>
          </a:ln>
        </p:spPr>
      </p:sp>
      <p:sp>
        <p:nvSpPr>
          <p:cNvPr id="8" name="">
            <a:extLst xmlns:a="http://schemas.openxmlformats.org/drawingml/2006/main">
              <a:ext uri="{FF2B5EF4-FFF2-40B4-BE49-F238E27FC236}">
                <a16:creationId xmlns:a16="http://schemas.microsoft.com/office/drawing/2014/main" id="{49762375-170D-49CD-8C95-EFEDA92FAAC9}"/>
              </a:ext>
            </a:extLst>
          </p:cNvPr>
          <p:cNvSpPr>
            <a:spLocks xmlns:a="http://schemas.openxmlformats.org/drawingml/2006/main" noGrp="1"/>
          </p:cNvSpPr>
          <p:nvPr/>
        </p:nvSpPr>
        <p:spPr>
          <a:xfrm xmlns:a="http://schemas.openxmlformats.org/drawingml/2006/main">
            <a:off x="742950" y="2352675"/>
            <a:ext cx="1190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F9F43"/>
                </a:solidFill>
                <a:latin typeface="Avenir Next"/>
                <a:ea typeface="Avenir Next"/>
                <a:cs typeface="Avenir Next"/>
              </a:defRPr>
            </a:pPr>
            <a:r>
              <a:rPr sz="1125" b="1">
                <a:solidFill>
                  <a:srgbClr val="FF9F43"/>
                </a:solidFill>
                <a:latin typeface="Avenir Next"/>
                <a:ea typeface="Avenir Next"/>
                <a:cs typeface="Avenir Next"/>
              </a:rPr>
              <a:t>IMPORT</a:t>
            </a:r>
          </a:p>
        </p:txBody>
      </p:sp>
      <p:sp>
        <p:nvSpPr>
          <p:cNvPr id="9" name="">
            <a:extLst xmlns:a="http://schemas.openxmlformats.org/drawingml/2006/main">
              <a:ext uri="{FF2B5EF4-FFF2-40B4-BE49-F238E27FC236}">
                <a16:creationId xmlns:a16="http://schemas.microsoft.com/office/drawing/2014/main" id="{C06392DE-B7BB-4AA8-B30F-828AC5B75178}"/>
              </a:ext>
            </a:extLst>
          </p:cNvPr>
          <p:cNvSpPr>
            <a:spLocks xmlns:a="http://schemas.openxmlformats.org/drawingml/2006/main" noGrp="1"/>
          </p:cNvSpPr>
          <p:nvPr/>
        </p:nvSpPr>
        <p:spPr>
          <a:xfrm xmlns:a="http://schemas.openxmlformats.org/drawingml/2006/main">
            <a:off x="2076450" y="22860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179"/>
          </a:bodyPr>
          <a:lstStyle xmlns:a="http://schemas.openxmlformats.org/drawingml/2006/main"/>
          <a:p xmlns:a="http://schemas.openxmlformats.org/drawingml/2006/main">
            <a:pPr algn="l">
              <a:defRPr sz="1575" b="1">
                <a:solidFill>
                  <a:srgbClr val="E8EDF3"/>
                </a:solidFill>
                <a:latin typeface="Avenir Next"/>
                <a:ea typeface="Avenir Next"/>
                <a:cs typeface="Avenir Next"/>
              </a:defRPr>
            </a:pPr>
            <a:r>
              <a:rPr sz="1575" b="1">
                <a:solidFill>
                  <a:srgbClr val="E8EDF3"/>
                </a:solidFill>
                <a:latin typeface="Avenir Next"/>
                <a:ea typeface="Avenir Next"/>
                <a:cs typeface="Avenir Next"/>
              </a:rPr>
              <a:t>Resumable batches with accepted, rejected, and duplicate counts</a:t>
            </a:r>
          </a:p>
        </p:txBody>
      </p:sp>
      <p:sp>
        <p:nvSpPr>
          <p:cNvPr id="10" name="">
            <a:extLst xmlns:a="http://schemas.openxmlformats.org/drawingml/2006/main">
              <a:ext uri="{FF2B5EF4-FFF2-40B4-BE49-F238E27FC236}">
                <a16:creationId xmlns:a16="http://schemas.microsoft.com/office/drawing/2014/main" id="{1B02E7E6-AC67-4E28-A5D8-C7D26EF9E780}"/>
              </a:ext>
            </a:extLst>
          </p:cNvPr>
          <p:cNvSpPr>
            <a:spLocks xmlns:a="http://schemas.openxmlformats.org/drawingml/2006/main" noGrp="1"/>
          </p:cNvSpPr>
          <p:nvPr/>
        </p:nvSpPr>
        <p:spPr>
          <a:xfrm xmlns:a="http://schemas.openxmlformats.org/drawingml/2006/main">
            <a:off x="742950" y="2743200"/>
            <a:ext cx="7620000" cy="9525"/>
          </a:xfrm>
          <a:prstGeom xmlns:a="http://schemas.openxmlformats.org/drawingml/2006/main" prst="line">
            <a:avLst/>
          </a:prstGeom>
          <a:noFill xmlns:a="http://schemas.openxmlformats.org/drawingml/2006/main"/>
          <a:ln xmlns:a="http://schemas.openxmlformats.org/drawingml/2006/main" w="9525">
            <a:solidFill>
              <a:srgbClr val="2A343F"/>
            </a:solidFill>
            <a:prstDash val="solid"/>
          </a:ln>
        </p:spPr>
      </p:sp>
      <p:sp>
        <p:nvSpPr>
          <p:cNvPr id="11" name="">
            <a:extLst xmlns:a="http://schemas.openxmlformats.org/drawingml/2006/main">
              <a:ext uri="{FF2B5EF4-FFF2-40B4-BE49-F238E27FC236}">
                <a16:creationId xmlns:a16="http://schemas.microsoft.com/office/drawing/2014/main" id="{2BFB2266-A3EB-4C9B-9135-C3CF77ED7D0E}"/>
              </a:ext>
            </a:extLst>
          </p:cNvPr>
          <p:cNvSpPr>
            <a:spLocks xmlns:a="http://schemas.openxmlformats.org/drawingml/2006/main" noGrp="1"/>
          </p:cNvSpPr>
          <p:nvPr/>
        </p:nvSpPr>
        <p:spPr>
          <a:xfrm xmlns:a="http://schemas.openxmlformats.org/drawingml/2006/main">
            <a:off x="742950" y="3038475"/>
            <a:ext cx="1190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F9F43"/>
                </a:solidFill>
                <a:latin typeface="Avenir Next"/>
                <a:ea typeface="Avenir Next"/>
                <a:cs typeface="Avenir Next"/>
              </a:defRPr>
            </a:pPr>
            <a:r>
              <a:rPr sz="1125" b="1">
                <a:solidFill>
                  <a:srgbClr val="FF9F43"/>
                </a:solidFill>
                <a:latin typeface="Avenir Next"/>
                <a:ea typeface="Avenir Next"/>
                <a:cs typeface="Avenir Next"/>
              </a:rPr>
              <a:t>REPLAY</a:t>
            </a:r>
          </a:p>
        </p:txBody>
      </p:sp>
      <p:sp>
        <p:nvSpPr>
          <p:cNvPr id="12" name="">
            <a:extLst xmlns:a="http://schemas.openxmlformats.org/drawingml/2006/main">
              <a:ext uri="{FF2B5EF4-FFF2-40B4-BE49-F238E27FC236}">
                <a16:creationId xmlns:a16="http://schemas.microsoft.com/office/drawing/2014/main" id="{50EB07A2-E053-42F6-903E-FBFF4FCA596F}"/>
              </a:ext>
            </a:extLst>
          </p:cNvPr>
          <p:cNvSpPr>
            <a:spLocks xmlns:a="http://schemas.openxmlformats.org/drawingml/2006/main" noGrp="1"/>
          </p:cNvSpPr>
          <p:nvPr/>
        </p:nvSpPr>
        <p:spPr>
          <a:xfrm xmlns:a="http://schemas.openxmlformats.org/drawingml/2006/main">
            <a:off x="2076450" y="29718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E8EDF3"/>
                </a:solidFill>
                <a:latin typeface="Avenir Next"/>
                <a:ea typeface="Avenir Next"/>
                <a:cs typeface="Avenir Next"/>
              </a:defRPr>
            </a:pPr>
            <a:r>
              <a:rPr sz="1575" b="1">
                <a:solidFill>
                  <a:srgbClr val="E8EDF3"/>
                </a:solidFill>
                <a:latin typeface="Avenir Next"/>
                <a:ea typeface="Avenir Next"/>
                <a:cs typeface="Avenir Next"/>
              </a:rPr>
              <a:t>Event and cursor commit atomically, with one active run</a:t>
            </a:r>
          </a:p>
        </p:txBody>
      </p:sp>
      <p:sp>
        <p:nvSpPr>
          <p:cNvPr id="13" name="">
            <a:extLst xmlns:a="http://schemas.openxmlformats.org/drawingml/2006/main">
              <a:ext uri="{FF2B5EF4-FFF2-40B4-BE49-F238E27FC236}">
                <a16:creationId xmlns:a16="http://schemas.microsoft.com/office/drawing/2014/main" id="{8A795487-AE1C-484D-B79F-03B697F3F176}"/>
              </a:ext>
            </a:extLst>
          </p:cNvPr>
          <p:cNvSpPr>
            <a:spLocks xmlns:a="http://schemas.openxmlformats.org/drawingml/2006/main" noGrp="1"/>
          </p:cNvSpPr>
          <p:nvPr/>
        </p:nvSpPr>
        <p:spPr>
          <a:xfrm xmlns:a="http://schemas.openxmlformats.org/drawingml/2006/main">
            <a:off x="742950" y="3429000"/>
            <a:ext cx="7620000" cy="9525"/>
          </a:xfrm>
          <a:prstGeom xmlns:a="http://schemas.openxmlformats.org/drawingml/2006/main" prst="line">
            <a:avLst/>
          </a:prstGeom>
          <a:noFill xmlns:a="http://schemas.openxmlformats.org/drawingml/2006/main"/>
          <a:ln xmlns:a="http://schemas.openxmlformats.org/drawingml/2006/main" w="9525">
            <a:solidFill>
              <a:srgbClr val="2A343F"/>
            </a:solidFill>
            <a:prstDash val="solid"/>
          </a:ln>
        </p:spPr>
      </p:sp>
      <p:sp>
        <p:nvSpPr>
          <p:cNvPr id="14" name="">
            <a:extLst xmlns:a="http://schemas.openxmlformats.org/drawingml/2006/main">
              <a:ext uri="{FF2B5EF4-FFF2-40B4-BE49-F238E27FC236}">
                <a16:creationId xmlns:a16="http://schemas.microsoft.com/office/drawing/2014/main" id="{F471F650-B1FD-400F-95F9-1B5CBD7ED136}"/>
              </a:ext>
            </a:extLst>
          </p:cNvPr>
          <p:cNvSpPr>
            <a:spLocks xmlns:a="http://schemas.openxmlformats.org/drawingml/2006/main" noGrp="1"/>
          </p:cNvSpPr>
          <p:nvPr/>
        </p:nvSpPr>
        <p:spPr>
          <a:xfrm xmlns:a="http://schemas.openxmlformats.org/drawingml/2006/main">
            <a:off x="742950" y="3724275"/>
            <a:ext cx="1190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F9F43"/>
                </a:solidFill>
                <a:latin typeface="Avenir Next"/>
                <a:ea typeface="Avenir Next"/>
                <a:cs typeface="Avenir Next"/>
              </a:defRPr>
            </a:pPr>
            <a:r>
              <a:rPr sz="1125" b="1">
                <a:solidFill>
                  <a:srgbClr val="FF9F43"/>
                </a:solidFill>
                <a:latin typeface="Avenir Next"/>
                <a:ea typeface="Avenir Next"/>
                <a:cs typeface="Avenir Next"/>
              </a:rPr>
              <a:t>RESTART</a:t>
            </a:r>
          </a:p>
        </p:txBody>
      </p:sp>
      <p:sp>
        <p:nvSpPr>
          <p:cNvPr id="15" name="">
            <a:extLst xmlns:a="http://schemas.openxmlformats.org/drawingml/2006/main">
              <a:ext uri="{FF2B5EF4-FFF2-40B4-BE49-F238E27FC236}">
                <a16:creationId xmlns:a16="http://schemas.microsoft.com/office/drawing/2014/main" id="{BC2697B5-4841-425F-9CAB-CF81892D0093}"/>
              </a:ext>
            </a:extLst>
          </p:cNvPr>
          <p:cNvSpPr>
            <a:spLocks xmlns:a="http://schemas.openxmlformats.org/drawingml/2006/main" noGrp="1"/>
          </p:cNvSpPr>
          <p:nvPr/>
        </p:nvSpPr>
        <p:spPr>
          <a:xfrm xmlns:a="http://schemas.openxmlformats.org/drawingml/2006/main">
            <a:off x="2076450" y="36576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E8EDF3"/>
                </a:solidFill>
                <a:latin typeface="Avenir Next"/>
                <a:ea typeface="Avenir Next"/>
                <a:cs typeface="Avenir Next"/>
              </a:defRPr>
            </a:pPr>
            <a:r>
              <a:rPr sz="1575" b="1">
                <a:solidFill>
                  <a:srgbClr val="E8EDF3"/>
                </a:solidFill>
                <a:latin typeface="Avenir Next"/>
                <a:ea typeface="Avenir Next"/>
                <a:cs typeface="Avenir Next"/>
              </a:rPr>
              <a:t>Unfinished runs become Interrupted and resume explicitly</a:t>
            </a:r>
          </a:p>
        </p:txBody>
      </p:sp>
      <p:sp>
        <p:nvSpPr>
          <p:cNvPr id="16" name="">
            <a:extLst xmlns:a="http://schemas.openxmlformats.org/drawingml/2006/main">
              <a:ext uri="{FF2B5EF4-FFF2-40B4-BE49-F238E27FC236}">
                <a16:creationId xmlns:a16="http://schemas.microsoft.com/office/drawing/2014/main" id="{D0C7A1E5-9F1C-49C8-BEFB-EF7F717DA47B}"/>
              </a:ext>
            </a:extLst>
          </p:cNvPr>
          <p:cNvSpPr>
            <a:spLocks xmlns:a="http://schemas.openxmlformats.org/drawingml/2006/main" noGrp="1"/>
          </p:cNvSpPr>
          <p:nvPr/>
        </p:nvSpPr>
        <p:spPr>
          <a:xfrm xmlns:a="http://schemas.openxmlformats.org/drawingml/2006/main">
            <a:off x="742950" y="4114800"/>
            <a:ext cx="7620000" cy="9525"/>
          </a:xfrm>
          <a:prstGeom xmlns:a="http://schemas.openxmlformats.org/drawingml/2006/main" prst="line">
            <a:avLst/>
          </a:prstGeom>
          <a:noFill xmlns:a="http://schemas.openxmlformats.org/drawingml/2006/main"/>
          <a:ln xmlns:a="http://schemas.openxmlformats.org/drawingml/2006/main" w="9525">
            <a:solidFill>
              <a:srgbClr val="2A343F"/>
            </a:solidFill>
            <a:prstDash val="solid"/>
          </a:ln>
        </p:spPr>
      </p:sp>
      <p:sp>
        <p:nvSpPr>
          <p:cNvPr id="17" name="">
            <a:extLst xmlns:a="http://schemas.openxmlformats.org/drawingml/2006/main">
              <a:ext uri="{FF2B5EF4-FFF2-40B4-BE49-F238E27FC236}">
                <a16:creationId xmlns:a16="http://schemas.microsoft.com/office/drawing/2014/main" id="{0695E32D-9DEE-4777-906F-2746CE3C89C3}"/>
              </a:ext>
            </a:extLst>
          </p:cNvPr>
          <p:cNvSpPr>
            <a:spLocks xmlns:a="http://schemas.openxmlformats.org/drawingml/2006/main" noGrp="1"/>
          </p:cNvSpPr>
          <p:nvPr/>
        </p:nvSpPr>
        <p:spPr>
          <a:xfrm xmlns:a="http://schemas.openxmlformats.org/drawingml/2006/main">
            <a:off x="742950" y="4410075"/>
            <a:ext cx="1190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F9F43"/>
                </a:solidFill>
                <a:latin typeface="Avenir Next"/>
                <a:ea typeface="Avenir Next"/>
                <a:cs typeface="Avenir Next"/>
              </a:defRPr>
            </a:pPr>
            <a:r>
              <a:rPr sz="1125" b="1">
                <a:solidFill>
                  <a:srgbClr val="FF9F43"/>
                </a:solidFill>
                <a:latin typeface="Avenir Next"/>
                <a:ea typeface="Avenir Next"/>
                <a:cs typeface="Avenir Next"/>
              </a:rPr>
              <a:t>REVIEW</a:t>
            </a:r>
          </a:p>
        </p:txBody>
      </p:sp>
      <p:sp>
        <p:nvSpPr>
          <p:cNvPr id="18" name="">
            <a:extLst xmlns:a="http://schemas.openxmlformats.org/drawingml/2006/main">
              <a:ext uri="{FF2B5EF4-FFF2-40B4-BE49-F238E27FC236}">
                <a16:creationId xmlns:a16="http://schemas.microsoft.com/office/drawing/2014/main" id="{F0187892-8F45-47F7-B9F8-9B0F285A5DE0}"/>
              </a:ext>
            </a:extLst>
          </p:cNvPr>
          <p:cNvSpPr>
            <a:spLocks xmlns:a="http://schemas.openxmlformats.org/drawingml/2006/main" noGrp="1"/>
          </p:cNvSpPr>
          <p:nvPr/>
        </p:nvSpPr>
        <p:spPr>
          <a:xfrm xmlns:a="http://schemas.openxmlformats.org/drawingml/2006/main">
            <a:off x="2076450" y="43434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E8EDF3"/>
                </a:solidFill>
                <a:latin typeface="Avenir Next"/>
                <a:ea typeface="Avenir Next"/>
                <a:cs typeface="Avenir Next"/>
              </a:defRPr>
            </a:pPr>
            <a:r>
              <a:rPr sz="1575" b="1">
                <a:solidFill>
                  <a:srgbClr val="E8EDF3"/>
                </a:solidFill>
                <a:latin typeface="Avenir Next"/>
                <a:ea typeface="Avenir Next"/>
                <a:cs typeface="Avenir Next"/>
              </a:rPr>
              <a:t>Revision checks prevent silent concurrent overwrites</a:t>
            </a:r>
          </a:p>
        </p:txBody>
      </p:sp>
      <p:sp>
        <p:nvSpPr>
          <p:cNvPr id="19" name="">
            <a:extLst xmlns:a="http://schemas.openxmlformats.org/drawingml/2006/main">
              <a:ext uri="{FF2B5EF4-FFF2-40B4-BE49-F238E27FC236}">
                <a16:creationId xmlns:a16="http://schemas.microsoft.com/office/drawing/2014/main" id="{D12F20C9-741B-4ADE-8CEC-49681FB3A14A}"/>
              </a:ext>
            </a:extLst>
          </p:cNvPr>
          <p:cNvSpPr>
            <a:spLocks xmlns:a="http://schemas.openxmlformats.org/drawingml/2006/main" noGrp="1"/>
          </p:cNvSpPr>
          <p:nvPr/>
        </p:nvSpPr>
        <p:spPr>
          <a:xfrm xmlns:a="http://schemas.openxmlformats.org/drawingml/2006/main">
            <a:off x="742950" y="4800600"/>
            <a:ext cx="7620000" cy="9525"/>
          </a:xfrm>
          <a:prstGeom xmlns:a="http://schemas.openxmlformats.org/drawingml/2006/main" prst="line">
            <a:avLst/>
          </a:prstGeom>
          <a:noFill xmlns:a="http://schemas.openxmlformats.org/drawingml/2006/main"/>
          <a:ln xmlns:a="http://schemas.openxmlformats.org/drawingml/2006/main" w="9525">
            <a:solidFill>
              <a:srgbClr val="2A343F"/>
            </a:solidFill>
            <a:prstDash val="solid"/>
          </a:ln>
        </p:spPr>
      </p:sp>
      <p:sp>
        <p:nvSpPr>
          <p:cNvPr id="20" name="">
            <a:extLst xmlns:a="http://schemas.openxmlformats.org/drawingml/2006/main">
              <a:ext uri="{FF2B5EF4-FFF2-40B4-BE49-F238E27FC236}">
                <a16:creationId xmlns:a16="http://schemas.microsoft.com/office/drawing/2014/main" id="{ABE0F107-1EC9-47C2-ABE8-65F408AE42F9}"/>
              </a:ext>
            </a:extLst>
          </p:cNvPr>
          <p:cNvSpPr>
            <a:spLocks xmlns:a="http://schemas.openxmlformats.org/drawingml/2006/main" noGrp="1"/>
          </p:cNvSpPr>
          <p:nvPr/>
        </p:nvSpPr>
        <p:spPr>
          <a:xfrm xmlns:a="http://schemas.openxmlformats.org/drawingml/2006/main">
            <a:off x="742950" y="5095875"/>
            <a:ext cx="1190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EF5747"/>
                </a:solidFill>
                <a:latin typeface="Avenir Next"/>
                <a:ea typeface="Avenir Next"/>
                <a:cs typeface="Avenir Next"/>
              </a:defRPr>
            </a:pPr>
            <a:r>
              <a:rPr sz="1125" b="1">
                <a:solidFill>
                  <a:srgbClr val="EF5747"/>
                </a:solidFill>
                <a:latin typeface="Avenir Next"/>
                <a:ea typeface="Avenir Next"/>
                <a:cs typeface="Avenir Next"/>
              </a:rPr>
              <a:t>SLACK</a:t>
            </a:r>
          </a:p>
        </p:txBody>
      </p:sp>
      <p:sp>
        <p:nvSpPr>
          <p:cNvPr id="21" name="">
            <a:extLst xmlns:a="http://schemas.openxmlformats.org/drawingml/2006/main">
              <a:ext uri="{FF2B5EF4-FFF2-40B4-BE49-F238E27FC236}">
                <a16:creationId xmlns:a16="http://schemas.microsoft.com/office/drawing/2014/main" id="{E48F33E1-A3B6-4A25-AE04-E53F1EAD63FE}"/>
              </a:ext>
            </a:extLst>
          </p:cNvPr>
          <p:cNvSpPr>
            <a:spLocks xmlns:a="http://schemas.openxmlformats.org/drawingml/2006/main" noGrp="1"/>
          </p:cNvSpPr>
          <p:nvPr/>
        </p:nvSpPr>
        <p:spPr>
          <a:xfrm xmlns:a="http://schemas.openxmlformats.org/drawingml/2006/main">
            <a:off x="2076450" y="50292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E8EDF3"/>
                </a:solidFill>
                <a:latin typeface="Avenir Next"/>
                <a:ea typeface="Avenir Next"/>
                <a:cs typeface="Avenir Next"/>
              </a:defRPr>
            </a:pPr>
            <a:r>
              <a:rPr sz="1575" b="1">
                <a:solidFill>
                  <a:srgbClr val="E8EDF3"/>
                </a:solidFill>
                <a:latin typeface="Avenir Next"/>
                <a:ea typeface="Avenir Next"/>
                <a:cs typeface="Avenir Next"/>
              </a:rPr>
              <a:t>Serialized dispatch and persistent successful send audit</a:t>
            </a:r>
          </a:p>
        </p:txBody>
      </p:sp>
      <p:sp>
        <p:nvSpPr>
          <p:cNvPr id="22" name="">
            <a:extLst xmlns:a="http://schemas.openxmlformats.org/drawingml/2006/main">
              <a:ext uri="{FF2B5EF4-FFF2-40B4-BE49-F238E27FC236}">
                <a16:creationId xmlns:a16="http://schemas.microsoft.com/office/drawing/2014/main" id="{E204679F-E811-46F1-8C6B-4ED387C034BB}"/>
              </a:ext>
            </a:extLst>
          </p:cNvPr>
          <p:cNvSpPr>
            <a:spLocks xmlns:a="http://schemas.openxmlformats.org/drawingml/2006/main" noGrp="1"/>
          </p:cNvSpPr>
          <p:nvPr/>
        </p:nvSpPr>
        <p:spPr>
          <a:xfrm xmlns:a="http://schemas.openxmlformats.org/drawingml/2006/main">
            <a:off x="742950" y="5486400"/>
            <a:ext cx="7620000" cy="9525"/>
          </a:xfrm>
          <a:prstGeom xmlns:a="http://schemas.openxmlformats.org/drawingml/2006/main" prst="line">
            <a:avLst/>
          </a:prstGeom>
          <a:noFill xmlns:a="http://schemas.openxmlformats.org/drawingml/2006/main"/>
          <a:ln xmlns:a="http://schemas.openxmlformats.org/drawingml/2006/main" w="9525">
            <a:solidFill>
              <a:srgbClr val="2A343F"/>
            </a:solidFill>
            <a:prstDash val="solid"/>
          </a:ln>
        </p:spPr>
      </p:sp>
      <p:sp>
        <p:nvSpPr>
          <p:cNvPr id="23" name="">
            <a:extLst xmlns:a="http://schemas.openxmlformats.org/drawingml/2006/main">
              <a:ext uri="{FF2B5EF4-FFF2-40B4-BE49-F238E27FC236}">
                <a16:creationId xmlns:a16="http://schemas.microsoft.com/office/drawing/2014/main" id="{C98F9B85-A215-4ABD-8FF2-687A05FAA92A}"/>
              </a:ext>
            </a:extLst>
          </p:cNvPr>
          <p:cNvSpPr>
            <a:spLocks xmlns:a="http://schemas.openxmlformats.org/drawingml/2006/main" noGrp="1"/>
          </p:cNvSpPr>
          <p:nvPr/>
        </p:nvSpPr>
        <p:spPr>
          <a:xfrm xmlns:a="http://schemas.openxmlformats.org/drawingml/2006/main">
            <a:off x="8972550" y="16573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EF5747"/>
                </a:solidFill>
                <a:latin typeface="Avenir Next"/>
                <a:ea typeface="Avenir Next"/>
                <a:cs typeface="Avenir Next"/>
              </a:defRPr>
            </a:pPr>
            <a:r>
              <a:rPr sz="1050" b="1">
                <a:solidFill>
                  <a:srgbClr val="EF5747"/>
                </a:solidFill>
                <a:latin typeface="Avenir Next"/>
                <a:ea typeface="Avenir Next"/>
                <a:cs typeface="Avenir Next"/>
              </a:rPr>
              <a:t>KNOWN DELIVERY BOUNDARY</a:t>
            </a:r>
          </a:p>
        </p:txBody>
      </p:sp>
      <p:sp>
        <p:nvSpPr>
          <p:cNvPr id="24" name="">
            <a:extLst xmlns:a="http://schemas.openxmlformats.org/drawingml/2006/main">
              <a:ext uri="{FF2B5EF4-FFF2-40B4-BE49-F238E27FC236}">
                <a16:creationId xmlns:a16="http://schemas.microsoft.com/office/drawing/2014/main" id="{30C10770-DBEB-4549-967A-C1C67ED28E81}"/>
              </a:ext>
            </a:extLst>
          </p:cNvPr>
          <p:cNvSpPr>
            <a:spLocks xmlns:a="http://schemas.openxmlformats.org/drawingml/2006/main" noGrp="1"/>
          </p:cNvSpPr>
          <p:nvPr/>
        </p:nvSpPr>
        <p:spPr>
          <a:xfrm xmlns:a="http://schemas.openxmlformats.org/drawingml/2006/main">
            <a:off x="8763000" y="2114550"/>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FFFFF"/>
                </a:solidFill>
                <a:latin typeface="Avenir Next"/>
                <a:ea typeface="Avenir Next"/>
                <a:cs typeface="Avenir Next"/>
              </a:defRPr>
            </a:pPr>
            <a:r>
              <a:rPr sz="2250" b="1">
                <a:solidFill>
                  <a:srgbClr val="FFFFFF"/>
                </a:solidFill>
                <a:latin typeface="Avenir Next"/>
                <a:ea typeface="Avenir Next"/>
                <a:cs typeface="Avenir Next"/>
              </a:rPr>
              <a:t>AT-LEAST-ONCE</a:t>
            </a:r>
          </a:p>
        </p:txBody>
      </p:sp>
      <p:sp>
        <p:nvSpPr>
          <p:cNvPr id="25" name="">
            <a:extLst xmlns:a="http://schemas.openxmlformats.org/drawingml/2006/main">
              <a:ext uri="{FF2B5EF4-FFF2-40B4-BE49-F238E27FC236}">
                <a16:creationId xmlns:a16="http://schemas.microsoft.com/office/drawing/2014/main" id="{56539B93-AB3A-49F0-AEAB-8DE9909FD7F0}"/>
              </a:ext>
            </a:extLst>
          </p:cNvPr>
          <p:cNvSpPr>
            <a:spLocks xmlns:a="http://schemas.openxmlformats.org/drawingml/2006/main" noGrp="1"/>
          </p:cNvSpPr>
          <p:nvPr/>
        </p:nvSpPr>
        <p:spPr>
          <a:xfrm xmlns:a="http://schemas.openxmlformats.org/drawingml/2006/main">
            <a:off x="8972550" y="2914650"/>
            <a:ext cx="238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8D9AA8"/>
                </a:solidFill>
                <a:latin typeface="Avenir Next"/>
                <a:ea typeface="Avenir Next"/>
                <a:cs typeface="Avenir Next"/>
              </a:defRPr>
            </a:pPr>
            <a:r>
              <a:rPr sz="1425" b="0">
                <a:solidFill>
                  <a:srgbClr val="8D9AA8"/>
                </a:solidFill>
                <a:latin typeface="Avenir Next"/>
                <a:ea typeface="Avenir Next"/>
                <a:cs typeface="Avenir Next"/>
              </a:rPr>
              <a:t>A crash after Slack accepts a message but before the local audit commit can produce a duplicate on retry.</a:t>
            </a:r>
          </a:p>
        </p:txBody>
      </p:sp>
      <p:sp>
        <p:nvSpPr>
          <p:cNvPr id="26" name="">
            <a:extLst xmlns:a="http://schemas.openxmlformats.org/drawingml/2006/main">
              <a:ext uri="{FF2B5EF4-FFF2-40B4-BE49-F238E27FC236}">
                <a16:creationId xmlns:a16="http://schemas.microsoft.com/office/drawing/2014/main" id="{AFB42DD6-2A9C-4F8B-AE2A-150E3F8218EC}"/>
              </a:ext>
            </a:extLst>
          </p:cNvPr>
          <p:cNvSpPr>
            <a:spLocks xmlns:a="http://schemas.openxmlformats.org/drawingml/2006/main" noGrp="1"/>
          </p:cNvSpPr>
          <p:nvPr/>
        </p:nvSpPr>
        <p:spPr>
          <a:xfrm xmlns:a="http://schemas.openxmlformats.org/drawingml/2006/main">
            <a:off x="8972550" y="4762500"/>
            <a:ext cx="2381250" cy="514350"/>
          </a:xfrm>
          <a:prstGeom xmlns:a="http://schemas.openxmlformats.org/drawingml/2006/main" prst="roundRect">
            <a:avLst>
              <a:gd name="adj" fmla="val 22222"/>
            </a:avLst>
          </a:prstGeom>
          <a:solidFill xmlns:a="http://schemas.openxmlformats.org/drawingml/2006/main">
            <a:srgbClr val="141C25"/>
          </a:solidFill>
          <a:ln xmlns:a="http://schemas.openxmlformats.org/drawingml/2006/main" w="9525">
            <a:solidFill>
              <a:srgbClr val="EF5747"/>
            </a:solidFill>
            <a:prstDash val="solid"/>
          </a:ln>
        </p:spPr>
        <p:txBody>
          <a:bodyPr xmlns:a="http://schemas.openxmlformats.org/drawingml/2006/main" wrap="square" lIns="133350" tIns="114300" rIns="133350" bIns="114300" anchor="ctr">
            <a:normAutofit fontScale="100000"/>
          </a:bodyPr>
          <a:lstStyle xmlns:a="http://schemas.openxmlformats.org/drawingml/2006/main"/>
          <a:p xmlns:a="http://schemas.openxmlformats.org/drawingml/2006/main">
            <a:pPr algn="ctr">
              <a:defRPr sz="1125" b="1">
                <a:solidFill>
                  <a:srgbClr val="EF5747"/>
                </a:solidFill>
                <a:latin typeface="Avenir Next"/>
                <a:ea typeface="Avenir Next"/>
                <a:cs typeface="Avenir Next"/>
              </a:defRPr>
            </a:pPr>
            <a:r>
              <a:rPr sz="1125" b="1">
                <a:solidFill>
                  <a:srgbClr val="EF5747"/>
                </a:solidFill>
                <a:latin typeface="Avenir Next"/>
                <a:ea typeface="Avenir Next"/>
                <a:cs typeface="Avenir Next"/>
              </a:rPr>
              <a:t>PROTOTYPE LIMIT</a:t>
            </a:r>
          </a:p>
        </p:txBody>
      </p:sp>
      <p:sp>
        <p:nvSpPr>
          <p:cNvPr id="27" name="">
            <a:extLst xmlns:a="http://schemas.openxmlformats.org/drawingml/2006/main">
              <a:ext uri="{FF2B5EF4-FFF2-40B4-BE49-F238E27FC236}">
                <a16:creationId xmlns:a16="http://schemas.microsoft.com/office/drawing/2014/main" id="{68E2E6CC-FE04-4DE1-AFF6-32730FCBAB97}"/>
              </a:ext>
            </a:extLst>
          </p:cNvPr>
          <p:cNvSpPr>
            <a:spLocks xmlns:a="http://schemas.openxmlformats.org/drawingml/2006/main" noGrp="1"/>
          </p:cNvSpPr>
          <p:nvPr/>
        </p:nvSpPr>
        <p:spPr>
          <a:xfrm xmlns:a="http://schemas.openxmlformats.org/drawingml/2006/main">
            <a:off x="590550" y="6553200"/>
            <a:ext cx="6858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8D9AA8"/>
                </a:solidFill>
                <a:latin typeface="Avenir Next"/>
                <a:ea typeface="Avenir Next"/>
                <a:cs typeface="Avenir Next"/>
              </a:defRPr>
            </a:pPr>
            <a:r>
              <a:rPr sz="750" b="1">
                <a:solidFill>
                  <a:srgbClr val="8D9AA8"/>
                </a:solidFill>
                <a:latin typeface="Avenir Next"/>
                <a:ea typeface="Avenir Next"/>
                <a:cs typeface="Avenir Next"/>
              </a:rPr>
              <a:t>SYNTHETIC SIEM DATASET / PROTOTYPE MEASUREMENTS</a:t>
            </a:r>
          </a:p>
        </p:txBody>
      </p:sp>
    </p:spTree>
    <p:extLst>
      <p:ext uri="{BB962C8B-B14F-4D97-AF65-F5344CB8AC3E}">
        <p14:creationId xmlns:p14="http://schemas.microsoft.com/office/powerpoint/2010/main" val="875502965"/>
      </p:ext>
    </p:extLst>
  </p:cSld>
</p:sld>
</file>

<file path=ppt/slides/slide6.xml><?xml version="1.0" encoding="utf-8"?>
<p:sld xmlns:p="http://schemas.openxmlformats.org/presentationml/2006/main">
  <p:cSld>
    <p:bg>
      <p:bgPr>
        <a:solidFill xmlns:a="http://schemas.openxmlformats.org/drawingml/2006/main">
          <a:srgbClr val="090D1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546CBF6-69B4-4EC8-844F-B5E9BA4FDDD1}"/>
              </a:ext>
            </a:extLst>
          </p:cNvPr>
          <p:cNvSpPr>
            <a:spLocks xmlns:a="http://schemas.openxmlformats.org/drawingml/2006/main" noGrp="1"/>
          </p:cNvSpPr>
          <p:nvPr/>
        </p:nvSpPr>
        <p:spPr>
          <a:xfrm xmlns:a="http://schemas.openxmlformats.org/drawingml/2006/main">
            <a:off x="590550" y="323850"/>
            <a:ext cx="381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F9F43"/>
                </a:solidFill>
                <a:latin typeface="Avenir Next"/>
                <a:ea typeface="Avenir Next"/>
                <a:cs typeface="Avenir Next"/>
              </a:defRPr>
            </a:pPr>
            <a:r>
              <a:rPr sz="1125" b="1">
                <a:solidFill>
                  <a:srgbClr val="FF9F43"/>
                </a:solidFill>
                <a:latin typeface="Avenir Next"/>
                <a:ea typeface="Avenir Next"/>
                <a:cs typeface="Avenir Next"/>
              </a:rPr>
              <a:t>EVIDENCE</a:t>
            </a:r>
          </a:p>
        </p:txBody>
      </p:sp>
      <p:sp>
        <p:nvSpPr>
          <p:cNvPr id="2" name="">
            <a:extLst xmlns:a="http://schemas.openxmlformats.org/drawingml/2006/main">
              <a:ext uri="{FF2B5EF4-FFF2-40B4-BE49-F238E27FC236}">
                <a16:creationId xmlns:a16="http://schemas.microsoft.com/office/drawing/2014/main" id="{A9525076-B564-4033-B8C4-FF0D3507EE77}"/>
              </a:ext>
            </a:extLst>
          </p:cNvPr>
          <p:cNvSpPr>
            <a:spLocks xmlns:a="http://schemas.openxmlformats.org/drawingml/2006/main" noGrp="1"/>
          </p:cNvSpPr>
          <p:nvPr/>
        </p:nvSpPr>
        <p:spPr>
          <a:xfrm xmlns:a="http://schemas.openxmlformats.org/drawingml/2006/main">
            <a:off x="590550" y="60960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E8EDF3"/>
                </a:solidFill>
                <a:latin typeface="Avenir Next"/>
                <a:ea typeface="Avenir Next"/>
                <a:cs typeface="Avenir Next"/>
              </a:defRPr>
            </a:pPr>
            <a:r>
              <a:rPr sz="3225" b="1">
                <a:solidFill>
                  <a:srgbClr val="E8EDF3"/>
                </a:solidFill>
                <a:latin typeface="Avenir Next"/>
                <a:ea typeface="Avenir Next"/>
                <a:cs typeface="Avenir Next"/>
              </a:rPr>
              <a:t>Measured prototype results</a:t>
            </a:r>
          </a:p>
        </p:txBody>
      </p:sp>
      <p:sp>
        <p:nvSpPr>
          <p:cNvPr id="3" name="">
            <a:extLst xmlns:a="http://schemas.openxmlformats.org/drawingml/2006/main">
              <a:ext uri="{FF2B5EF4-FFF2-40B4-BE49-F238E27FC236}">
                <a16:creationId xmlns:a16="http://schemas.microsoft.com/office/drawing/2014/main" id="{8D76FEB8-B837-48F0-8967-4432E15D7090}"/>
              </a:ext>
            </a:extLst>
          </p:cNvPr>
          <p:cNvSpPr>
            <a:spLocks xmlns:a="http://schemas.openxmlformats.org/drawingml/2006/main" noGrp="1"/>
          </p:cNvSpPr>
          <p:nvPr/>
        </p:nvSpPr>
        <p:spPr>
          <a:xfrm xmlns:a="http://schemas.openxmlformats.org/drawingml/2006/main">
            <a:off x="11144250" y="3810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8D9AA8"/>
                </a:solidFill>
                <a:latin typeface="Avenir Next"/>
                <a:ea typeface="Avenir Next"/>
                <a:cs typeface="Avenir Next"/>
              </a:defRPr>
            </a:pPr>
            <a:r>
              <a:rPr sz="1200" b="1">
                <a:solidFill>
                  <a:srgbClr val="8D9AA8"/>
                </a:solidFill>
                <a:latin typeface="Avenir Next"/>
                <a:ea typeface="Avenir Next"/>
                <a:cs typeface="Avenir Next"/>
              </a:rPr>
              <a:t>06</a:t>
            </a:r>
          </a:p>
        </p:txBody>
      </p:sp>
      <p:sp>
        <p:nvSpPr>
          <p:cNvPr id="4" name="">
            <a:extLst xmlns:a="http://schemas.openxmlformats.org/drawingml/2006/main">
              <a:ext uri="{FF2B5EF4-FFF2-40B4-BE49-F238E27FC236}">
                <a16:creationId xmlns:a16="http://schemas.microsoft.com/office/drawing/2014/main" id="{4425FF6F-F893-4D56-9D3D-1C6801A73F22}"/>
              </a:ext>
            </a:extLst>
          </p:cNvPr>
          <p:cNvSpPr>
            <a:spLocks xmlns:a="http://schemas.openxmlformats.org/drawingml/2006/main" noGrp="1"/>
          </p:cNvSpPr>
          <p:nvPr/>
        </p:nvSpPr>
        <p:spPr>
          <a:xfrm xmlns:a="http://schemas.openxmlformats.org/drawingml/2006/main">
            <a:off x="590550" y="1219200"/>
            <a:ext cx="11010900" cy="9525"/>
          </a:xfrm>
          <a:prstGeom xmlns:a="http://schemas.openxmlformats.org/drawingml/2006/main" prst="line">
            <a:avLst/>
          </a:prstGeom>
          <a:noFill xmlns:a="http://schemas.openxmlformats.org/drawingml/2006/main"/>
          <a:ln xmlns:a="http://schemas.openxmlformats.org/drawingml/2006/main" w="9525">
            <a:solidFill>
              <a:srgbClr val="2A343F"/>
            </a:solidFill>
            <a:prstDash val="solid"/>
          </a:ln>
        </p:spPr>
      </p:sp>
      <p:sp>
        <p:nvSpPr>
          <p:cNvPr id="5" name="">
            <a:extLst xmlns:a="http://schemas.openxmlformats.org/drawingml/2006/main">
              <a:ext uri="{FF2B5EF4-FFF2-40B4-BE49-F238E27FC236}">
                <a16:creationId xmlns:a16="http://schemas.microsoft.com/office/drawing/2014/main" id="{B315236F-AF73-4892-A4DC-EFFDFC1E8E53}"/>
              </a:ext>
            </a:extLst>
          </p:cNvPr>
          <p:cNvSpPr>
            <a:spLocks xmlns:a="http://schemas.openxmlformats.org/drawingml/2006/main" noGrp="1"/>
          </p:cNvSpPr>
          <p:nvPr/>
        </p:nvSpPr>
        <p:spPr>
          <a:xfrm xmlns:a="http://schemas.openxmlformats.org/drawingml/2006/main">
            <a:off x="666750" y="15240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750" b="1">
                <a:solidFill>
                  <a:srgbClr val="FF9F43"/>
                </a:solidFill>
                <a:latin typeface="Avenir Next"/>
                <a:ea typeface="Avenir Next"/>
                <a:cs typeface="Avenir Next"/>
              </a:defRPr>
            </a:pPr>
            <a:r>
              <a:rPr sz="3750" b="1">
                <a:solidFill>
                  <a:srgbClr val="FF9F43"/>
                </a:solidFill>
                <a:latin typeface="Avenir Next"/>
                <a:ea typeface="Avenir Next"/>
                <a:cs typeface="Avenir Next"/>
              </a:rPr>
              <a:t>100,000</a:t>
            </a:r>
          </a:p>
        </p:txBody>
      </p:sp>
      <p:sp>
        <p:nvSpPr>
          <p:cNvPr id="6" name="">
            <a:extLst xmlns:a="http://schemas.openxmlformats.org/drawingml/2006/main">
              <a:ext uri="{FF2B5EF4-FFF2-40B4-BE49-F238E27FC236}">
                <a16:creationId xmlns:a16="http://schemas.microsoft.com/office/drawing/2014/main" id="{F001F9DE-6350-45FB-A2AC-1F578C8DEBFB}"/>
              </a:ext>
            </a:extLst>
          </p:cNvPr>
          <p:cNvSpPr>
            <a:spLocks xmlns:a="http://schemas.openxmlformats.org/drawingml/2006/main" noGrp="1"/>
          </p:cNvSpPr>
          <p:nvPr/>
        </p:nvSpPr>
        <p:spPr>
          <a:xfrm xmlns:a="http://schemas.openxmlformats.org/drawingml/2006/main">
            <a:off x="666750" y="22669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E8EDF3"/>
                </a:solidFill>
                <a:latin typeface="Avenir Next"/>
                <a:ea typeface="Avenir Next"/>
                <a:cs typeface="Avenir Next"/>
              </a:defRPr>
            </a:pPr>
            <a:r>
              <a:rPr sz="1050" b="1">
                <a:solidFill>
                  <a:srgbClr val="E8EDF3"/>
                </a:solidFill>
                <a:latin typeface="Avenir Next"/>
                <a:ea typeface="Avenir Next"/>
                <a:cs typeface="Avenir Next"/>
              </a:rPr>
              <a:t>EVENTS IMPORTED</a:t>
            </a:r>
          </a:p>
        </p:txBody>
      </p:sp>
      <p:sp>
        <p:nvSpPr>
          <p:cNvPr id="7" name="">
            <a:extLst xmlns:a="http://schemas.openxmlformats.org/drawingml/2006/main">
              <a:ext uri="{FF2B5EF4-FFF2-40B4-BE49-F238E27FC236}">
                <a16:creationId xmlns:a16="http://schemas.microsoft.com/office/drawing/2014/main" id="{EFF46745-BA91-41EA-90AE-998709E9F3D1}"/>
              </a:ext>
            </a:extLst>
          </p:cNvPr>
          <p:cNvSpPr>
            <a:spLocks xmlns:a="http://schemas.openxmlformats.org/drawingml/2006/main" noGrp="1"/>
          </p:cNvSpPr>
          <p:nvPr/>
        </p:nvSpPr>
        <p:spPr>
          <a:xfrm xmlns:a="http://schemas.openxmlformats.org/drawingml/2006/main">
            <a:off x="666750" y="256222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8D9AA8"/>
                </a:solidFill>
                <a:latin typeface="Avenir Next"/>
                <a:ea typeface="Avenir Next"/>
                <a:cs typeface="Avenir Next"/>
              </a:defRPr>
            </a:pPr>
            <a:r>
              <a:rPr sz="1050" b="0">
                <a:solidFill>
                  <a:srgbClr val="8D9AA8"/>
                </a:solidFill>
                <a:latin typeface="Avenir Next"/>
                <a:ea typeface="Avenir Next"/>
                <a:cs typeface="Avenir Next"/>
              </a:rPr>
              <a:t>0 rejected / 0 duplicates</a:t>
            </a:r>
          </a:p>
        </p:txBody>
      </p:sp>
      <p:sp>
        <p:nvSpPr>
          <p:cNvPr id="8" name="">
            <a:extLst xmlns:a="http://schemas.openxmlformats.org/drawingml/2006/main">
              <a:ext uri="{FF2B5EF4-FFF2-40B4-BE49-F238E27FC236}">
                <a16:creationId xmlns:a16="http://schemas.microsoft.com/office/drawing/2014/main" id="{34D21574-8D66-4A04-8510-F545AEA34F40}"/>
              </a:ext>
            </a:extLst>
          </p:cNvPr>
          <p:cNvSpPr>
            <a:spLocks xmlns:a="http://schemas.openxmlformats.org/drawingml/2006/main" noGrp="1"/>
          </p:cNvSpPr>
          <p:nvPr/>
        </p:nvSpPr>
        <p:spPr>
          <a:xfrm xmlns:a="http://schemas.openxmlformats.org/drawingml/2006/main">
            <a:off x="4333875" y="15240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750" b="1">
                <a:solidFill>
                  <a:srgbClr val="35D0A1"/>
                </a:solidFill>
                <a:latin typeface="Avenir Next"/>
                <a:ea typeface="Avenir Next"/>
                <a:cs typeface="Avenir Next"/>
              </a:defRPr>
            </a:pPr>
            <a:r>
              <a:rPr sz="3750" b="1">
                <a:solidFill>
                  <a:srgbClr val="35D0A1"/>
                </a:solidFill>
                <a:latin typeface="Avenir Next"/>
                <a:ea typeface="Avenir Next"/>
                <a:cs typeface="Avenir Next"/>
              </a:rPr>
              <a:t>99.9/s</a:t>
            </a:r>
          </a:p>
        </p:txBody>
      </p:sp>
      <p:sp>
        <p:nvSpPr>
          <p:cNvPr id="9" name="">
            <a:extLst xmlns:a="http://schemas.openxmlformats.org/drawingml/2006/main">
              <a:ext uri="{FF2B5EF4-FFF2-40B4-BE49-F238E27FC236}">
                <a16:creationId xmlns:a16="http://schemas.microsoft.com/office/drawing/2014/main" id="{10D71CFE-A9D6-4F75-B71D-074E5B9A03A7}"/>
              </a:ext>
            </a:extLst>
          </p:cNvPr>
          <p:cNvSpPr>
            <a:spLocks xmlns:a="http://schemas.openxmlformats.org/drawingml/2006/main" noGrp="1"/>
          </p:cNvSpPr>
          <p:nvPr/>
        </p:nvSpPr>
        <p:spPr>
          <a:xfrm xmlns:a="http://schemas.openxmlformats.org/drawingml/2006/main">
            <a:off x="4333875" y="22669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E8EDF3"/>
                </a:solidFill>
                <a:latin typeface="Avenir Next"/>
                <a:ea typeface="Avenir Next"/>
                <a:cs typeface="Avenir Next"/>
              </a:defRPr>
            </a:pPr>
            <a:r>
              <a:rPr sz="1050" b="1">
                <a:solidFill>
                  <a:srgbClr val="E8EDF3"/>
                </a:solidFill>
                <a:latin typeface="Avenir Next"/>
                <a:ea typeface="Avenir Next"/>
                <a:cs typeface="Avenir Next"/>
              </a:rPr>
              <a:t>REAL-TIME REPLAY</a:t>
            </a:r>
          </a:p>
        </p:txBody>
      </p:sp>
      <p:sp>
        <p:nvSpPr>
          <p:cNvPr id="10" name="">
            <a:extLst xmlns:a="http://schemas.openxmlformats.org/drawingml/2006/main">
              <a:ext uri="{FF2B5EF4-FFF2-40B4-BE49-F238E27FC236}">
                <a16:creationId xmlns:a16="http://schemas.microsoft.com/office/drawing/2014/main" id="{1728735A-F0CF-41EE-8A44-66D73EE10C3F}"/>
              </a:ext>
            </a:extLst>
          </p:cNvPr>
          <p:cNvSpPr>
            <a:spLocks xmlns:a="http://schemas.openxmlformats.org/drawingml/2006/main" noGrp="1"/>
          </p:cNvSpPr>
          <p:nvPr/>
        </p:nvSpPr>
        <p:spPr>
          <a:xfrm xmlns:a="http://schemas.openxmlformats.org/drawingml/2006/main">
            <a:off x="4333875" y="256222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8D9AA8"/>
                </a:solidFill>
                <a:latin typeface="Avenir Next"/>
                <a:ea typeface="Avenir Next"/>
                <a:cs typeface="Avenir Next"/>
              </a:defRPr>
            </a:pPr>
            <a:r>
              <a:rPr sz="1050" b="0">
                <a:solidFill>
                  <a:srgbClr val="8D9AA8"/>
                </a:solidFill>
                <a:latin typeface="Avenir Next"/>
                <a:ea typeface="Avenir Next"/>
                <a:cs typeface="Avenir Next"/>
              </a:rPr>
              <a:t>1,000-event run</a:t>
            </a:r>
          </a:p>
        </p:txBody>
      </p:sp>
      <p:sp>
        <p:nvSpPr>
          <p:cNvPr id="11" name="">
            <a:extLst xmlns:a="http://schemas.openxmlformats.org/drawingml/2006/main">
              <a:ext uri="{FF2B5EF4-FFF2-40B4-BE49-F238E27FC236}">
                <a16:creationId xmlns:a16="http://schemas.microsoft.com/office/drawing/2014/main" id="{9F571232-2584-45CD-9BE2-733100DB41FC}"/>
              </a:ext>
            </a:extLst>
          </p:cNvPr>
          <p:cNvSpPr>
            <a:spLocks xmlns:a="http://schemas.openxmlformats.org/drawingml/2006/main" noGrp="1"/>
          </p:cNvSpPr>
          <p:nvPr/>
        </p:nvSpPr>
        <p:spPr>
          <a:xfrm xmlns:a="http://schemas.openxmlformats.org/drawingml/2006/main">
            <a:off x="8001000" y="15240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750" b="1">
                <a:solidFill>
                  <a:srgbClr val="FF9F43"/>
                </a:solidFill>
                <a:latin typeface="Avenir Next"/>
                <a:ea typeface="Avenir Next"/>
                <a:cs typeface="Avenir Next"/>
              </a:defRPr>
            </a:pPr>
            <a:r>
              <a:rPr sz="3750" b="1">
                <a:solidFill>
                  <a:srgbClr val="FF9F43"/>
                </a:solidFill>
                <a:latin typeface="Avenir Next"/>
                <a:ea typeface="Avenir Next"/>
                <a:cs typeface="Avenir Next"/>
              </a:rPr>
              <a:t>45</a:t>
            </a:r>
          </a:p>
        </p:txBody>
      </p:sp>
      <p:sp>
        <p:nvSpPr>
          <p:cNvPr id="12" name="">
            <a:extLst xmlns:a="http://schemas.openxmlformats.org/drawingml/2006/main">
              <a:ext uri="{FF2B5EF4-FFF2-40B4-BE49-F238E27FC236}">
                <a16:creationId xmlns:a16="http://schemas.microsoft.com/office/drawing/2014/main" id="{C7F5254E-7C92-44C2-820E-66C5EFBA55AB}"/>
              </a:ext>
            </a:extLst>
          </p:cNvPr>
          <p:cNvSpPr>
            <a:spLocks xmlns:a="http://schemas.openxmlformats.org/drawingml/2006/main" noGrp="1"/>
          </p:cNvSpPr>
          <p:nvPr/>
        </p:nvSpPr>
        <p:spPr>
          <a:xfrm xmlns:a="http://schemas.openxmlformats.org/drawingml/2006/main">
            <a:off x="8001000" y="22669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E8EDF3"/>
                </a:solidFill>
                <a:latin typeface="Avenir Next"/>
                <a:ea typeface="Avenir Next"/>
                <a:cs typeface="Avenir Next"/>
              </a:defRPr>
            </a:pPr>
            <a:r>
              <a:rPr sz="1050" b="1">
                <a:solidFill>
                  <a:srgbClr val="E8EDF3"/>
                </a:solidFill>
                <a:latin typeface="Avenir Next"/>
                <a:ea typeface="Avenir Next"/>
                <a:cs typeface="Avenir Next"/>
              </a:rPr>
              <a:t>TESTS PASSING</a:t>
            </a:r>
          </a:p>
        </p:txBody>
      </p:sp>
      <p:sp>
        <p:nvSpPr>
          <p:cNvPr id="13" name="">
            <a:extLst xmlns:a="http://schemas.openxmlformats.org/drawingml/2006/main">
              <a:ext uri="{FF2B5EF4-FFF2-40B4-BE49-F238E27FC236}">
                <a16:creationId xmlns:a16="http://schemas.microsoft.com/office/drawing/2014/main" id="{E3B3F3E2-4D98-491B-9034-2AFEB9B43C77}"/>
              </a:ext>
            </a:extLst>
          </p:cNvPr>
          <p:cNvSpPr>
            <a:spLocks xmlns:a="http://schemas.openxmlformats.org/drawingml/2006/main" noGrp="1"/>
          </p:cNvSpPr>
          <p:nvPr/>
        </p:nvSpPr>
        <p:spPr>
          <a:xfrm xmlns:a="http://schemas.openxmlformats.org/drawingml/2006/main">
            <a:off x="8001000" y="256222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8D9AA8"/>
                </a:solidFill>
                <a:latin typeface="Avenir Next"/>
                <a:ea typeface="Avenir Next"/>
                <a:cs typeface="Avenir Next"/>
              </a:defRPr>
            </a:pPr>
            <a:r>
              <a:rPr sz="1050" b="0">
                <a:solidFill>
                  <a:srgbClr val="8D9AA8"/>
                </a:solidFill>
                <a:latin typeface="Avenir Next"/>
                <a:ea typeface="Avenir Next"/>
                <a:cs typeface="Avenir Next"/>
              </a:rPr>
              <a:t>Ruff lint and format clean</a:t>
            </a:r>
          </a:p>
        </p:txBody>
      </p:sp>
      <p:graphicFrame>
        <p:nvGraphicFramePr>
          <p:cNvPr id="30" name=""/>
          <p:cNvGraphicFramePr/>
          <p:nvPr/>
        </p:nvGraphicFramePr>
        <p:xfrm>
          <a:off xmlns:a="http://schemas.openxmlformats.org/drawingml/2006/main" x="1428750" y="3333750"/>
          <a:ext xmlns:a="http://schemas.openxmlformats.org/drawingml/2006/main" cx="9334500" cy="2343150"/>
        </p:xfrm>
        <a:graphic xmlns:a="http://schemas.openxmlformats.org/drawingml/2006/main">
          <a:graphicData uri="http://schemas.openxmlformats.org/drawingml/2006/table">
            <a:tbl>
              <a:tblPr/>
              <a:tblGrid>
                <a:gridCol w="5429250"/>
                <a:gridCol w="3905250"/>
              </a:tblGrid>
              <a:tr h="468630">
                <a:tc>
                  <a:txBody>
                    <a:bodyPr/>
                    <a:lstStyle/>
                    <a:p>
                      <a:r>
                        <a:rPr sz="1275" b="1">
                          <a:solidFill>
                            <a:srgbClr val="090D12"/>
                          </a:solidFill>
                          <a:latin typeface="Avenir Next"/>
                          <a:ea typeface="Avenir Next"/>
                          <a:cs typeface="Avenir Next"/>
                        </a:rPr>
                        <a:t>Recorded check</a:t>
                      </a:r>
                    </a:p>
                  </a:txBody>
                  <a:tcPr marL="133350" marR="133350" marT="95250" marB="95250" anchor="ctr">
                    <a:solidFill>
                      <a:srgbClr val="FF9F43"/>
                    </a:solidFill>
                  </a:tcPr>
                </a:tc>
                <a:tc>
                  <a:txBody>
                    <a:bodyPr/>
                    <a:lstStyle/>
                    <a:p>
                      <a:r>
                        <a:rPr sz="1275" b="1">
                          <a:solidFill>
                            <a:srgbClr val="090D12"/>
                          </a:solidFill>
                          <a:latin typeface="Avenir Next"/>
                          <a:ea typeface="Avenir Next"/>
                          <a:cs typeface="Avenir Next"/>
                        </a:rPr>
                        <a:t>Measurement</a:t>
                      </a:r>
                    </a:p>
                  </a:txBody>
                  <a:tcPr marL="133350" marR="133350" marT="95250" marB="95250" anchor="ctr">
                    <a:solidFill>
                      <a:srgbClr val="FF9F43"/>
                    </a:solidFill>
                  </a:tcPr>
                </a:tc>
              </a:tr>
              <a:tr h="468630">
                <a:tc>
                  <a:txBody>
                    <a:bodyPr/>
                    <a:lstStyle/>
                    <a:p>
                      <a:r>
                        <a:rPr sz="1200">
                          <a:solidFill>
                            <a:srgbClr val="E8EDF3"/>
                          </a:solidFill>
                          <a:latin typeface="Avenir Next"/>
                          <a:ea typeface="Avenir Next"/>
                          <a:cs typeface="Avenir Next"/>
                        </a:rPr>
                        <a:t>Local clean import</a:t>
                      </a:r>
                    </a:p>
                  </a:txBody>
                  <a:tcPr marL="133350" marR="133350" marT="85725" marB="85725" anchor="ctr">
                    <a:solidFill>
                      <a:srgbClr val="10161E"/>
                    </a:solidFill>
                  </a:tcPr>
                </a:tc>
                <a:tc>
                  <a:txBody>
                    <a:bodyPr/>
                    <a:lstStyle/>
                    <a:p>
                      <a:r>
                        <a:rPr sz="1200">
                          <a:solidFill>
                            <a:srgbClr val="E8EDF3"/>
                          </a:solidFill>
                          <a:latin typeface="Avenir Next"/>
                          <a:ea typeface="Avenir Next"/>
                          <a:cs typeface="Avenir Next"/>
                        </a:rPr>
                        <a:t>4.04 seconds / about 24,778 rows per second</a:t>
                      </a:r>
                    </a:p>
                  </a:txBody>
                  <a:tcPr marL="133350" marR="133350" marT="85725" marB="85725" anchor="ctr">
                    <a:solidFill>
                      <a:srgbClr val="10161E"/>
                    </a:solidFill>
                  </a:tcPr>
                </a:tc>
              </a:tr>
              <a:tr h="468630">
                <a:tc>
                  <a:txBody>
                    <a:bodyPr/>
                    <a:lstStyle/>
                    <a:p>
                      <a:r>
                        <a:rPr sz="1200">
                          <a:solidFill>
                            <a:srgbClr val="E8EDF3"/>
                          </a:solidFill>
                          <a:latin typeface="Avenir Next"/>
                          <a:ea typeface="Avenir Next"/>
                          <a:cs typeface="Avenir Next"/>
                        </a:rPr>
                        <a:t>Dell server clean import</a:t>
                      </a:r>
                    </a:p>
                  </a:txBody>
                  <a:tcPr marL="133350" marR="133350" marT="85725" marB="85725" anchor="ctr">
                    <a:solidFill>
                      <a:srgbClr val="10161E"/>
                    </a:solidFill>
                  </a:tcPr>
                </a:tc>
                <a:tc>
                  <a:txBody>
                    <a:bodyPr/>
                    <a:lstStyle/>
                    <a:p>
                      <a:r>
                        <a:rPr sz="1200">
                          <a:solidFill>
                            <a:srgbClr val="E8EDF3"/>
                          </a:solidFill>
                          <a:latin typeface="Avenir Next"/>
                          <a:ea typeface="Avenir Next"/>
                          <a:cs typeface="Avenir Next"/>
                        </a:rPr>
                        <a:t>5.28 seconds</a:t>
                      </a:r>
                    </a:p>
                  </a:txBody>
                  <a:tcPr marL="133350" marR="133350" marT="85725" marB="85725" anchor="ctr">
                    <a:solidFill>
                      <a:srgbClr val="10161E"/>
                    </a:solidFill>
                  </a:tcPr>
                </a:tc>
              </a:tr>
              <a:tr h="468630">
                <a:tc>
                  <a:txBody>
                    <a:bodyPr/>
                    <a:lstStyle/>
                    <a:p>
                      <a:r>
                        <a:rPr sz="1200">
                          <a:solidFill>
                            <a:srgbClr val="E8EDF3"/>
                          </a:solidFill>
                          <a:latin typeface="Avenir Next"/>
                          <a:ea typeface="Avenir Next"/>
                          <a:cs typeface="Avenir Next"/>
                        </a:rPr>
                        <a:t>Full-run dashboard snapshot</a:t>
                      </a:r>
                    </a:p>
                  </a:txBody>
                  <a:tcPr marL="133350" marR="133350" marT="85725" marB="85725" anchor="ctr">
                    <a:solidFill>
                      <a:srgbClr val="10161E"/>
                    </a:solidFill>
                  </a:tcPr>
                </a:tc>
                <a:tc>
                  <a:txBody>
                    <a:bodyPr/>
                    <a:lstStyle/>
                    <a:p>
                      <a:r>
                        <a:rPr sz="1200">
                          <a:solidFill>
                            <a:srgbClr val="E8EDF3"/>
                          </a:solidFill>
                          <a:latin typeface="Avenir Next"/>
                          <a:ea typeface="Avenir Next"/>
                          <a:cs typeface="Avenir Next"/>
                        </a:rPr>
                        <a:t>0.250–0.259 seconds</a:t>
                      </a:r>
                    </a:p>
                  </a:txBody>
                  <a:tcPr marL="133350" marR="133350" marT="85725" marB="85725" anchor="ctr">
                    <a:solidFill>
                      <a:srgbClr val="10161E"/>
                    </a:solidFill>
                  </a:tcPr>
                </a:tc>
              </a:tr>
              <a:tr h="468630">
                <a:tc>
                  <a:txBody>
                    <a:bodyPr/>
                    <a:lstStyle/>
                    <a:p>
                      <a:r>
                        <a:rPr sz="1200">
                          <a:solidFill>
                            <a:srgbClr val="E8EDF3"/>
                          </a:solidFill>
                          <a:latin typeface="Avenir Next"/>
                          <a:ea typeface="Avenir Next"/>
                          <a:cs typeface="Avenir Next"/>
                        </a:rPr>
                        <a:t>Full corpus persistence</a:t>
                      </a:r>
                    </a:p>
                  </a:txBody>
                  <a:tcPr marL="133350" marR="133350" marT="85725" marB="85725" anchor="ctr">
                    <a:solidFill>
                      <a:srgbClr val="10161E"/>
                    </a:solidFill>
                  </a:tcPr>
                </a:tc>
                <a:tc>
                  <a:txBody>
                    <a:bodyPr/>
                    <a:lstStyle/>
                    <a:p>
                      <a:r>
                        <a:rPr sz="1200">
                          <a:solidFill>
                            <a:srgbClr val="E8EDF3"/>
                          </a:solidFill>
                          <a:latin typeface="Avenir Next"/>
                          <a:ea typeface="Avenir Next"/>
                          <a:cs typeface="Avenir Next"/>
                        </a:rPr>
                        <a:t>100,000 unique sequences / controllable clock</a:t>
                      </a:r>
                    </a:p>
                  </a:txBody>
                  <a:tcPr marL="133350" marR="133350" marT="85725" marB="85725" anchor="ctr">
                    <a:solidFill>
                      <a:srgbClr val="10161E"/>
                    </a:solidFill>
                  </a:tcPr>
                </a:tc>
              </a:tr>
            </a:tbl>
          </a:graphicData>
        </a:graphic>
      </p:graphicFrame>
      <p:sp>
        <p:nvSpPr>
          <p:cNvPr id="15" name="">
            <a:extLst xmlns:a="http://schemas.openxmlformats.org/drawingml/2006/main">
              <a:ext uri="{FF2B5EF4-FFF2-40B4-BE49-F238E27FC236}">
                <a16:creationId xmlns:a16="http://schemas.microsoft.com/office/drawing/2014/main" id="{13B24569-7BBB-48AE-BE36-F9AB4F85A045}"/>
              </a:ext>
            </a:extLst>
          </p:cNvPr>
          <p:cNvSpPr>
            <a:spLocks xmlns:a="http://schemas.openxmlformats.org/drawingml/2006/main" noGrp="1"/>
          </p:cNvSpPr>
          <p:nvPr/>
        </p:nvSpPr>
        <p:spPr>
          <a:xfrm xmlns:a="http://schemas.openxmlformats.org/drawingml/2006/main">
            <a:off x="1428750" y="590550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8D9AA8"/>
                </a:solidFill>
                <a:latin typeface="Avenir Next"/>
                <a:ea typeface="Avenir Next"/>
                <a:cs typeface="Avenir Next"/>
              </a:defRPr>
            </a:pPr>
            <a:r>
              <a:rPr sz="1050" b="0">
                <a:solidFill>
                  <a:srgbClr val="8D9AA8"/>
                </a:solidFill>
                <a:latin typeface="Avenir Next"/>
                <a:ea typeface="Avenir Next"/>
                <a:cs typeface="Avenir Next"/>
              </a:rPr>
              <a:t>Dataset size 93,724,615 bytes. Severity, risk, and threat values are source annotations.</a:t>
            </a:r>
          </a:p>
        </p:txBody>
      </p:sp>
      <p:sp>
        <p:nvSpPr>
          <p:cNvPr id="16" name="">
            <a:extLst xmlns:a="http://schemas.openxmlformats.org/drawingml/2006/main">
              <a:ext uri="{FF2B5EF4-FFF2-40B4-BE49-F238E27FC236}">
                <a16:creationId xmlns:a16="http://schemas.microsoft.com/office/drawing/2014/main" id="{8D30419F-7BE0-40FF-AC78-2615582BA361}"/>
              </a:ext>
            </a:extLst>
          </p:cNvPr>
          <p:cNvSpPr>
            <a:spLocks xmlns:a="http://schemas.openxmlformats.org/drawingml/2006/main" noGrp="1"/>
          </p:cNvSpPr>
          <p:nvPr/>
        </p:nvSpPr>
        <p:spPr>
          <a:xfrm xmlns:a="http://schemas.openxmlformats.org/drawingml/2006/main">
            <a:off x="590550" y="6553200"/>
            <a:ext cx="6858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8D9AA8"/>
                </a:solidFill>
                <a:latin typeface="Avenir Next"/>
                <a:ea typeface="Avenir Next"/>
                <a:cs typeface="Avenir Next"/>
              </a:defRPr>
            </a:pPr>
            <a:r>
              <a:rPr sz="750" b="1">
                <a:solidFill>
                  <a:srgbClr val="8D9AA8"/>
                </a:solidFill>
                <a:latin typeface="Avenir Next"/>
                <a:ea typeface="Avenir Next"/>
                <a:cs typeface="Avenir Next"/>
              </a:rPr>
              <a:t>SYNTHETIC SIEM DATASET / PROTOTYPE MEASUREMENTS</a:t>
            </a:r>
          </a:p>
        </p:txBody>
      </p:sp>
    </p:spTree>
    <p:extLst>
      <p:ext uri="{BB962C8B-B14F-4D97-AF65-F5344CB8AC3E}">
        <p14:creationId xmlns:p14="http://schemas.microsoft.com/office/powerpoint/2010/main" val="289007451"/>
      </p:ext>
    </p:extLst>
  </p:cSld>
</p:sld>
</file>

<file path=ppt/slides/slide7.xml><?xml version="1.0" encoding="utf-8"?>
<p:sld xmlns:p="http://schemas.openxmlformats.org/presentationml/2006/main">
  <p:cSld>
    <p:bg>
      <p:bgPr>
        <a:solidFill xmlns:a="http://schemas.openxmlformats.org/drawingml/2006/main">
          <a:srgbClr val="090D12"/>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268B9A9-AFB3-43D7-9A28-E1C9A606D76D}"/>
              </a:ext>
            </a:extLst>
          </p:cNvPr>
          <p:cNvSpPr>
            <a:spLocks xmlns:a="http://schemas.openxmlformats.org/drawingml/2006/main" noGrp="1"/>
          </p:cNvSpPr>
          <p:nvPr/>
        </p:nvSpPr>
        <p:spPr>
          <a:xfrm xmlns:a="http://schemas.openxmlformats.org/drawingml/2006/main">
            <a:off x="590550" y="323850"/>
            <a:ext cx="381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F9F43"/>
                </a:solidFill>
                <a:latin typeface="Avenir Next"/>
                <a:ea typeface="Avenir Next"/>
                <a:cs typeface="Avenir Next"/>
              </a:defRPr>
            </a:pPr>
            <a:r>
              <a:rPr sz="1125" b="1">
                <a:solidFill>
                  <a:srgbClr val="FF9F43"/>
                </a:solidFill>
                <a:latin typeface="Avenir Next"/>
                <a:ea typeface="Avenir Next"/>
                <a:cs typeface="Avenir Next"/>
              </a:rPr>
              <a:t>NEXT PHASE</a:t>
            </a:r>
          </a:p>
        </p:txBody>
      </p:sp>
      <p:sp>
        <p:nvSpPr>
          <p:cNvPr id="2" name="">
            <a:extLst xmlns:a="http://schemas.openxmlformats.org/drawingml/2006/main">
              <a:ext uri="{FF2B5EF4-FFF2-40B4-BE49-F238E27FC236}">
                <a16:creationId xmlns:a16="http://schemas.microsoft.com/office/drawing/2014/main" id="{4A9FDE4C-768B-46AB-8D48-8E79DB878017}"/>
              </a:ext>
            </a:extLst>
          </p:cNvPr>
          <p:cNvSpPr>
            <a:spLocks xmlns:a="http://schemas.openxmlformats.org/drawingml/2006/main" noGrp="1"/>
          </p:cNvSpPr>
          <p:nvPr/>
        </p:nvSpPr>
        <p:spPr>
          <a:xfrm xmlns:a="http://schemas.openxmlformats.org/drawingml/2006/main">
            <a:off x="590550" y="60960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E8EDF3"/>
                </a:solidFill>
                <a:latin typeface="Avenir Next"/>
                <a:ea typeface="Avenir Next"/>
                <a:cs typeface="Avenir Next"/>
              </a:defRPr>
            </a:pPr>
            <a:r>
              <a:rPr sz="3225" b="1">
                <a:solidFill>
                  <a:srgbClr val="E8EDF3"/>
                </a:solidFill>
                <a:latin typeface="Avenir Next"/>
                <a:ea typeface="Avenir Next"/>
                <a:cs typeface="Avenir Next"/>
              </a:rPr>
              <a:t>Planned NemoClaw investigation loop</a:t>
            </a:r>
          </a:p>
        </p:txBody>
      </p:sp>
      <p:sp>
        <p:nvSpPr>
          <p:cNvPr id="3" name="">
            <a:extLst xmlns:a="http://schemas.openxmlformats.org/drawingml/2006/main">
              <a:ext uri="{FF2B5EF4-FFF2-40B4-BE49-F238E27FC236}">
                <a16:creationId xmlns:a16="http://schemas.microsoft.com/office/drawing/2014/main" id="{997EDCBF-03E9-4EA7-AD85-01A3215C0212}"/>
              </a:ext>
            </a:extLst>
          </p:cNvPr>
          <p:cNvSpPr>
            <a:spLocks xmlns:a="http://schemas.openxmlformats.org/drawingml/2006/main" noGrp="1"/>
          </p:cNvSpPr>
          <p:nvPr/>
        </p:nvSpPr>
        <p:spPr>
          <a:xfrm xmlns:a="http://schemas.openxmlformats.org/drawingml/2006/main">
            <a:off x="11144250" y="3810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8D9AA8"/>
                </a:solidFill>
                <a:latin typeface="Avenir Next"/>
                <a:ea typeface="Avenir Next"/>
                <a:cs typeface="Avenir Next"/>
              </a:defRPr>
            </a:pPr>
            <a:r>
              <a:rPr sz="1200" b="1">
                <a:solidFill>
                  <a:srgbClr val="8D9AA8"/>
                </a:solidFill>
                <a:latin typeface="Avenir Next"/>
                <a:ea typeface="Avenir Next"/>
                <a:cs typeface="Avenir Next"/>
              </a:rPr>
              <a:t>07</a:t>
            </a:r>
          </a:p>
        </p:txBody>
      </p:sp>
      <p:sp>
        <p:nvSpPr>
          <p:cNvPr id="4" name="">
            <a:extLst xmlns:a="http://schemas.openxmlformats.org/drawingml/2006/main">
              <a:ext uri="{FF2B5EF4-FFF2-40B4-BE49-F238E27FC236}">
                <a16:creationId xmlns:a16="http://schemas.microsoft.com/office/drawing/2014/main" id="{36C14590-FE79-48D9-9252-989A514B86E6}"/>
              </a:ext>
            </a:extLst>
          </p:cNvPr>
          <p:cNvSpPr>
            <a:spLocks xmlns:a="http://schemas.openxmlformats.org/drawingml/2006/main" noGrp="1"/>
          </p:cNvSpPr>
          <p:nvPr/>
        </p:nvSpPr>
        <p:spPr>
          <a:xfrm xmlns:a="http://schemas.openxmlformats.org/drawingml/2006/main">
            <a:off x="590550" y="1219200"/>
            <a:ext cx="11010900" cy="9525"/>
          </a:xfrm>
          <a:prstGeom xmlns:a="http://schemas.openxmlformats.org/drawingml/2006/main" prst="line">
            <a:avLst/>
          </a:prstGeom>
          <a:noFill xmlns:a="http://schemas.openxmlformats.org/drawingml/2006/main"/>
          <a:ln xmlns:a="http://schemas.openxmlformats.org/drawingml/2006/main" w="9525">
            <a:solidFill>
              <a:srgbClr val="2A343F"/>
            </a:solidFill>
            <a:prstDash val="solid"/>
          </a:ln>
        </p:spPr>
      </p:sp>
      <p:sp>
        <p:nvSpPr>
          <p:cNvPr id="5" name="">
            <a:extLst xmlns:a="http://schemas.openxmlformats.org/drawingml/2006/main">
              <a:ext uri="{FF2B5EF4-FFF2-40B4-BE49-F238E27FC236}">
                <a16:creationId xmlns:a16="http://schemas.microsoft.com/office/drawing/2014/main" id="{BA9C5908-1BA4-4D5B-AB49-8D0B4C2DCBCF}"/>
              </a:ext>
            </a:extLst>
          </p:cNvPr>
          <p:cNvSpPr>
            <a:spLocks xmlns:a="http://schemas.openxmlformats.org/drawingml/2006/main" noGrp="1"/>
          </p:cNvSpPr>
          <p:nvPr/>
        </p:nvSpPr>
        <p:spPr>
          <a:xfrm xmlns:a="http://schemas.openxmlformats.org/drawingml/2006/main">
            <a:off x="9448800" y="723900"/>
            <a:ext cx="2133600" cy="361950"/>
          </a:xfrm>
          <a:prstGeom xmlns:a="http://schemas.openxmlformats.org/drawingml/2006/main" prst="roundRect">
            <a:avLst>
              <a:gd name="adj" fmla="val 31579"/>
            </a:avLst>
          </a:prstGeom>
          <a:solidFill xmlns:a="http://schemas.openxmlformats.org/drawingml/2006/main">
            <a:srgbClr val="141C25"/>
          </a:solidFill>
          <a:ln xmlns:a="http://schemas.openxmlformats.org/drawingml/2006/main" w="9525">
            <a:solidFill>
              <a:srgbClr val="55C8D0"/>
            </a:solidFill>
            <a:prstDash val="dash"/>
          </a:ln>
        </p:spPr>
        <p:txBody>
          <a:bodyPr xmlns:a="http://schemas.openxmlformats.org/drawingml/2006/main" wrap="square" lIns="133350" tIns="114300" rIns="133350" bIns="114300" anchor="ctr">
            <a:normAutofit fontScale="44683"/>
          </a:bodyPr>
          <a:lstStyle xmlns:a="http://schemas.openxmlformats.org/drawingml/2006/main"/>
          <a:p xmlns:a="http://schemas.openxmlformats.org/drawingml/2006/main">
            <a:pPr algn="ctr">
              <a:defRPr sz="975" b="1">
                <a:solidFill>
                  <a:srgbClr val="55C8D0"/>
                </a:solidFill>
                <a:latin typeface="Avenir Next"/>
                <a:ea typeface="Avenir Next"/>
                <a:cs typeface="Avenir Next"/>
              </a:defRPr>
            </a:pPr>
            <a:r>
              <a:rPr sz="975" b="1">
                <a:solidFill>
                  <a:srgbClr val="55C8D0"/>
                </a:solidFill>
                <a:latin typeface="Avenir Next"/>
                <a:ea typeface="Avenir Next"/>
                <a:cs typeface="Avenir Next"/>
              </a:rPr>
              <a:t>PLANNED ROUND TRIP</a:t>
            </a:r>
          </a:p>
        </p:txBody>
      </p:sp>
      <p:sp>
        <p:nvSpPr>
          <p:cNvPr id="6" name="">
            <a:extLst xmlns:a="http://schemas.openxmlformats.org/drawingml/2006/main">
              <a:ext uri="{FF2B5EF4-FFF2-40B4-BE49-F238E27FC236}">
                <a16:creationId xmlns:a16="http://schemas.microsoft.com/office/drawing/2014/main" id="{F4A78B8D-7ED5-4213-8DA8-635DC77FFE8C}"/>
              </a:ext>
            </a:extLst>
          </p:cNvPr>
          <p:cNvSpPr>
            <a:spLocks xmlns:a="http://schemas.openxmlformats.org/drawingml/2006/main" noGrp="1"/>
          </p:cNvSpPr>
          <p:nvPr/>
        </p:nvSpPr>
        <p:spPr>
          <a:xfrm xmlns:a="http://schemas.openxmlformats.org/drawingml/2006/main">
            <a:off x="666750" y="1809750"/>
            <a:ext cx="2571750" cy="2381250"/>
          </a:xfrm>
          <a:prstGeom xmlns:a="http://schemas.openxmlformats.org/drawingml/2006/main" prst="roundRect">
            <a:avLst>
              <a:gd name="adj" fmla="val 4800"/>
            </a:avLst>
          </a:prstGeom>
          <a:solidFill xmlns:a="http://schemas.openxmlformats.org/drawingml/2006/main">
            <a:srgbClr val="10161E"/>
          </a:solidFill>
          <a:ln xmlns:a="http://schemas.openxmlformats.org/drawingml/2006/main" w="19050">
            <a:solidFill>
              <a:srgbClr val="FF9F43"/>
            </a:solidFill>
            <a:prstDash val="solid"/>
          </a:ln>
        </p:spPr>
        <p:txBody>
          <a:bodyPr xmlns:a="http://schemas.openxmlformats.org/drawingml/2006/main" wrap="square" lIns="133350" tIns="114300" rIns="133350" bIns="114300" anchor="ctr">
            <a:normAutofit fontScale="100000"/>
          </a:bodyPr>
          <a:lstStyle xmlns:a="http://schemas.openxmlformats.org/drawingml/2006/main"/>
          <a:p xmlns:a="http://schemas.openxmlformats.org/drawingml/2006/main">
            <a:pPr algn="ctr">
              <a:defRPr sz="1500" b="1">
                <a:solidFill>
                  <a:srgbClr val="E8EDF3"/>
                </a:solidFill>
                <a:latin typeface="Avenir Next"/>
                <a:ea typeface="Avenir Next"/>
                <a:cs typeface="Avenir Next"/>
              </a:defRPr>
            </a:pPr>
            <a:r>
              <a:rPr sz="1500" b="1">
                <a:solidFill>
                  <a:srgbClr val="E8EDF3"/>
                </a:solidFill>
                <a:latin typeface="Avenir Next"/>
                <a:ea typeface="Avenir Next"/>
                <a:cs typeface="Avenir Next"/>
              </a:rPr>
              <a:t>CLAWWATCH</a:t>
            </a:r>
          </a:p>
          <a:p xmlns:a="http://schemas.openxmlformats.org/drawingml/2006/main">
            <a:pPr algn="ctr">
              <a:defRPr sz="1500" b="1">
                <a:solidFill>
                  <a:srgbClr val="E8EDF3"/>
                </a:solidFill>
                <a:latin typeface="Avenir Next"/>
                <a:ea typeface="Avenir Next"/>
                <a:cs typeface="Avenir Next"/>
              </a:defRPr>
            </a:pPr>
            <a:r>
              <a:rPr sz="1500" b="1">
                <a:solidFill>
                  <a:srgbClr val="E8EDF3"/>
                </a:solidFill>
                <a:latin typeface="Avenir Next"/>
                <a:ea typeface="Avenir Next"/>
                <a:cs typeface="Avenir Next"/>
              </a:rPr>
              <a:t>BACKEND</a:t>
            </a:r>
          </a:p>
          <a:p xmlns:a="http://schemas.openxmlformats.org/drawingml/2006/main">
            <a:r>
              <a:t/>
            </a:r>
          </a:p>
          <a:p xmlns:a="http://schemas.openxmlformats.org/drawingml/2006/main">
            <a:pPr algn="ctr">
              <a:defRPr sz="1500" b="1">
                <a:solidFill>
                  <a:srgbClr val="E8EDF3"/>
                </a:solidFill>
                <a:latin typeface="Avenir Next"/>
                <a:ea typeface="Avenir Next"/>
                <a:cs typeface="Avenir Next"/>
              </a:defRPr>
            </a:pPr>
            <a:r>
              <a:rPr sz="1500" b="1">
                <a:solidFill>
                  <a:srgbClr val="E8EDF3"/>
                </a:solidFill>
                <a:latin typeface="Avenir Next"/>
                <a:ea typeface="Avenir Next"/>
                <a:cs typeface="Avenir Next"/>
              </a:rPr>
              <a:t>Evidence selection</a:t>
            </a:r>
          </a:p>
          <a:p xmlns:a="http://schemas.openxmlformats.org/drawingml/2006/main">
            <a:pPr algn="ctr">
              <a:defRPr sz="1500" b="1">
                <a:solidFill>
                  <a:srgbClr val="E8EDF3"/>
                </a:solidFill>
                <a:latin typeface="Avenir Next"/>
                <a:ea typeface="Avenir Next"/>
                <a:cs typeface="Avenir Next"/>
              </a:defRPr>
            </a:pPr>
            <a:r>
              <a:rPr sz="1500" b="1">
                <a:solidFill>
                  <a:srgbClr val="E8EDF3"/>
                </a:solidFill>
                <a:latin typeface="Avenir Next"/>
                <a:ea typeface="Avenir Next"/>
                <a:cs typeface="Avenir Next"/>
              </a:rPr>
              <a:t>Request state</a:t>
            </a:r>
          </a:p>
          <a:p xmlns:a="http://schemas.openxmlformats.org/drawingml/2006/main">
            <a:pPr algn="ctr">
              <a:defRPr sz="1500" b="1">
                <a:solidFill>
                  <a:srgbClr val="E8EDF3"/>
                </a:solidFill>
                <a:latin typeface="Avenir Next"/>
                <a:ea typeface="Avenir Next"/>
                <a:cs typeface="Avenir Next"/>
              </a:defRPr>
            </a:pPr>
            <a:r>
              <a:rPr sz="1500" b="1">
                <a:solidFill>
                  <a:srgbClr val="E8EDF3"/>
                </a:solidFill>
                <a:latin typeface="Avenir Next"/>
                <a:ea typeface="Avenir Next"/>
                <a:cs typeface="Avenir Next"/>
              </a:rPr>
              <a:t>Validation + audit</a:t>
            </a:r>
          </a:p>
        </p:txBody>
      </p:sp>
      <p:sp>
        <p:nvSpPr>
          <p:cNvPr id="7" name="">
            <a:extLst xmlns:a="http://schemas.openxmlformats.org/drawingml/2006/main">
              <a:ext uri="{FF2B5EF4-FFF2-40B4-BE49-F238E27FC236}">
                <a16:creationId xmlns:a16="http://schemas.microsoft.com/office/drawing/2014/main" id="{F4B9A00E-0131-4902-A843-5EE587A3F4B2}"/>
              </a:ext>
            </a:extLst>
          </p:cNvPr>
          <p:cNvSpPr>
            <a:spLocks xmlns:a="http://schemas.openxmlformats.org/drawingml/2006/main" noGrp="1"/>
          </p:cNvSpPr>
          <p:nvPr/>
        </p:nvSpPr>
        <p:spPr>
          <a:xfrm xmlns:a="http://schemas.openxmlformats.org/drawingml/2006/main">
            <a:off x="4762500" y="1524000"/>
            <a:ext cx="3810000" cy="2952750"/>
          </a:xfrm>
          <a:prstGeom xmlns:a="http://schemas.openxmlformats.org/drawingml/2006/main" prst="roundRect">
            <a:avLst>
              <a:gd name="adj" fmla="val 5161"/>
            </a:avLst>
          </a:prstGeom>
          <a:solidFill xmlns:a="http://schemas.openxmlformats.org/drawingml/2006/main">
            <a:srgbClr val="10161E"/>
          </a:solidFill>
          <a:ln xmlns:a="http://schemas.openxmlformats.org/drawingml/2006/main" w="19050">
            <a:solidFill>
              <a:srgbClr val="55C8D0"/>
            </a:solidFill>
            <a:prstDash val="dash"/>
          </a:ln>
        </p:spPr>
      </p:sp>
      <p:sp>
        <p:nvSpPr>
          <p:cNvPr id="8" name="">
            <a:extLst xmlns:a="http://schemas.openxmlformats.org/drawingml/2006/main">
              <a:ext uri="{FF2B5EF4-FFF2-40B4-BE49-F238E27FC236}">
                <a16:creationId xmlns:a16="http://schemas.microsoft.com/office/drawing/2014/main" id="{FFB97914-20BE-4DBA-B471-E799182DC6C6}"/>
              </a:ext>
            </a:extLst>
          </p:cNvPr>
          <p:cNvSpPr>
            <a:spLocks xmlns:a="http://schemas.openxmlformats.org/drawingml/2006/main" noGrp="1"/>
          </p:cNvSpPr>
          <p:nvPr/>
        </p:nvSpPr>
        <p:spPr>
          <a:xfrm xmlns:a="http://schemas.openxmlformats.org/drawingml/2006/main">
            <a:off x="5048250" y="1771650"/>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55C8D0"/>
                </a:solidFill>
                <a:latin typeface="Avenir Next"/>
                <a:ea typeface="Avenir Next"/>
                <a:cs typeface="Avenir Next"/>
              </a:defRPr>
            </a:pPr>
            <a:r>
              <a:rPr sz="1125" b="1">
                <a:solidFill>
                  <a:srgbClr val="55C8D0"/>
                </a:solidFill>
                <a:latin typeface="Avenir Next"/>
                <a:ea typeface="Avenir Next"/>
                <a:cs typeface="Avenir Next"/>
              </a:rPr>
              <a:t>NEMOCLAW SANDBOX</a:t>
            </a:r>
          </a:p>
        </p:txBody>
      </p:sp>
      <p:sp>
        <p:nvSpPr>
          <p:cNvPr id="9" name="">
            <a:extLst xmlns:a="http://schemas.openxmlformats.org/drawingml/2006/main">
              <a:ext uri="{FF2B5EF4-FFF2-40B4-BE49-F238E27FC236}">
                <a16:creationId xmlns:a16="http://schemas.microsoft.com/office/drawing/2014/main" id="{7989A178-3BB1-44EF-8A9E-E4B8A3B3BF1E}"/>
              </a:ext>
            </a:extLst>
          </p:cNvPr>
          <p:cNvSpPr>
            <a:spLocks xmlns:a="http://schemas.openxmlformats.org/drawingml/2006/main" noGrp="1"/>
          </p:cNvSpPr>
          <p:nvPr/>
        </p:nvSpPr>
        <p:spPr>
          <a:xfrm xmlns:a="http://schemas.openxmlformats.org/drawingml/2006/main">
            <a:off x="5429250" y="2400300"/>
            <a:ext cx="2476500" cy="1066800"/>
          </a:xfrm>
          <a:prstGeom xmlns:a="http://schemas.openxmlformats.org/drawingml/2006/main" prst="roundRect">
            <a:avLst>
              <a:gd name="adj" fmla="val 10714"/>
            </a:avLst>
          </a:prstGeom>
          <a:solidFill xmlns:a="http://schemas.openxmlformats.org/drawingml/2006/main">
            <a:srgbClr val="141C25"/>
          </a:solidFill>
          <a:ln xmlns:a="http://schemas.openxmlformats.org/drawingml/2006/main" w="9525">
            <a:solidFill>
              <a:srgbClr val="55C8D0"/>
            </a:solidFill>
            <a:prstDash val="solid"/>
          </a:ln>
        </p:spPr>
        <p:txBody>
          <a:bodyPr xmlns:a="http://schemas.openxmlformats.org/drawingml/2006/main" wrap="square" lIns="133350" tIns="114300" rIns="133350" bIns="114300" anchor="ctr">
            <a:normAutofit fontScale="100000"/>
          </a:bodyPr>
          <a:lstStyle xmlns:a="http://schemas.openxmlformats.org/drawingml/2006/main"/>
          <a:p xmlns:a="http://schemas.openxmlformats.org/drawingml/2006/main">
            <a:pPr algn="ctr">
              <a:defRPr sz="1650" b="1">
                <a:solidFill>
                  <a:srgbClr val="E8EDF3"/>
                </a:solidFill>
                <a:latin typeface="Avenir Next"/>
                <a:ea typeface="Avenir Next"/>
                <a:cs typeface="Avenir Next"/>
              </a:defRPr>
            </a:pPr>
            <a:r>
              <a:rPr sz="1650" b="1">
                <a:solidFill>
                  <a:srgbClr val="E8EDF3"/>
                </a:solidFill>
                <a:latin typeface="Avenir Next"/>
                <a:ea typeface="Avenir Next"/>
                <a:cs typeface="Avenir Next"/>
              </a:rPr>
              <a:t>OPENCLAW</a:t>
            </a:r>
          </a:p>
          <a:p xmlns:a="http://schemas.openxmlformats.org/drawingml/2006/main">
            <a:pPr algn="ctr">
              <a:defRPr sz="1650" b="1">
                <a:solidFill>
                  <a:srgbClr val="E8EDF3"/>
                </a:solidFill>
                <a:latin typeface="Avenir Next"/>
                <a:ea typeface="Avenir Next"/>
                <a:cs typeface="Avenir Next"/>
              </a:defRPr>
            </a:pPr>
            <a:r>
              <a:rPr sz="1650" b="1">
                <a:solidFill>
                  <a:srgbClr val="E8EDF3"/>
                </a:solidFill>
                <a:latin typeface="Avenir Next"/>
                <a:ea typeface="Avenir Next"/>
                <a:cs typeface="Avenir Next"/>
              </a:rPr>
              <a:t>+ LOCAL GB10 MODEL</a:t>
            </a:r>
          </a:p>
        </p:txBody>
      </p:sp>
      <p:sp>
        <p:nvSpPr>
          <p:cNvPr id="10" name="">
            <a:extLst xmlns:a="http://schemas.openxmlformats.org/drawingml/2006/main">
              <a:ext uri="{FF2B5EF4-FFF2-40B4-BE49-F238E27FC236}">
                <a16:creationId xmlns:a16="http://schemas.microsoft.com/office/drawing/2014/main" id="{E3A1744F-57A4-4DB5-91E0-CCF99A60E231}"/>
              </a:ext>
            </a:extLst>
          </p:cNvPr>
          <p:cNvSpPr>
            <a:spLocks xmlns:a="http://schemas.openxmlformats.org/drawingml/2006/main" noGrp="1"/>
          </p:cNvSpPr>
          <p:nvPr/>
        </p:nvSpPr>
        <p:spPr>
          <a:xfrm xmlns:a="http://schemas.openxmlformats.org/drawingml/2006/main">
            <a:off x="5334000" y="376237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8D9AA8"/>
                </a:solidFill>
                <a:latin typeface="Avenir Next"/>
                <a:ea typeface="Avenir Next"/>
                <a:cs typeface="Avenir Next"/>
              </a:defRPr>
            </a:pPr>
            <a:r>
              <a:rPr sz="1125" b="0">
                <a:solidFill>
                  <a:srgbClr val="8D9AA8"/>
                </a:solidFill>
                <a:latin typeface="Avenir Next"/>
                <a:ea typeface="Avenir Next"/>
                <a:cs typeface="Avenir Next"/>
              </a:rPr>
              <a:t>Isolated execution boundary</a:t>
            </a:r>
          </a:p>
        </p:txBody>
      </p:sp>
      <p:sp>
        <p:nvSpPr>
          <p:cNvPr id="11" name="">
            <a:extLst xmlns:a="http://schemas.openxmlformats.org/drawingml/2006/main">
              <a:ext uri="{FF2B5EF4-FFF2-40B4-BE49-F238E27FC236}">
                <a16:creationId xmlns:a16="http://schemas.microsoft.com/office/drawing/2014/main" id="{56D12421-5DF6-4AD7-AAD6-D446486D3BD0}"/>
              </a:ext>
            </a:extLst>
          </p:cNvPr>
          <p:cNvSpPr>
            <a:spLocks xmlns:a="http://schemas.openxmlformats.org/drawingml/2006/main" noGrp="1"/>
          </p:cNvSpPr>
          <p:nvPr/>
        </p:nvSpPr>
        <p:spPr>
          <a:xfrm xmlns:a="http://schemas.openxmlformats.org/drawingml/2006/main">
            <a:off x="3381375" y="2152650"/>
            <a:ext cx="1190625" cy="400050"/>
          </a:xfrm>
          <a:prstGeom xmlns:a="http://schemas.openxmlformats.org/drawingml/2006/main" prst="rightArrow">
            <a:avLst/>
          </a:prstGeom>
          <a:solidFill xmlns:a="http://schemas.openxmlformats.org/drawingml/2006/main">
            <a:srgbClr val="FF9F43"/>
          </a:solidFill>
          <a:ln xmlns:a="http://schemas.openxmlformats.org/drawingml/2006/main" w="9525">
            <a:solidFill>
              <a:srgbClr val="FF9F43"/>
            </a:solidFill>
            <a:prstDash val="solid"/>
          </a:ln>
        </p:spPr>
      </p:sp>
      <p:sp>
        <p:nvSpPr>
          <p:cNvPr id="12" name="">
            <a:extLst xmlns:a="http://schemas.openxmlformats.org/drawingml/2006/main">
              <a:ext uri="{FF2B5EF4-FFF2-40B4-BE49-F238E27FC236}">
                <a16:creationId xmlns:a16="http://schemas.microsoft.com/office/drawing/2014/main" id="{233644E0-A274-4AB8-A97C-EA98686675C9}"/>
              </a:ext>
            </a:extLst>
          </p:cNvPr>
          <p:cNvSpPr>
            <a:spLocks xmlns:a="http://schemas.openxmlformats.org/drawingml/2006/main" noGrp="1"/>
          </p:cNvSpPr>
          <p:nvPr/>
        </p:nvSpPr>
        <p:spPr>
          <a:xfrm xmlns:a="http://schemas.openxmlformats.org/drawingml/2006/main">
            <a:off x="3333750" y="1809750"/>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F9F43"/>
                </a:solidFill>
                <a:latin typeface="Avenir Next"/>
                <a:ea typeface="Avenir Next"/>
                <a:cs typeface="Avenir Next"/>
              </a:defRPr>
            </a:pPr>
            <a:r>
              <a:rPr sz="825" b="1">
                <a:solidFill>
                  <a:srgbClr val="FF9F43"/>
                </a:solidFill>
                <a:latin typeface="Avenir Next"/>
                <a:ea typeface="Avenir Next"/>
                <a:cs typeface="Avenir Next"/>
              </a:rPr>
              <a:t>INVESTIGATION REQUEST</a:t>
            </a:r>
          </a:p>
        </p:txBody>
      </p:sp>
      <p:sp>
        <p:nvSpPr>
          <p:cNvPr id="13" name="">
            <a:extLst xmlns:a="http://schemas.openxmlformats.org/drawingml/2006/main">
              <a:ext uri="{FF2B5EF4-FFF2-40B4-BE49-F238E27FC236}">
                <a16:creationId xmlns:a16="http://schemas.microsoft.com/office/drawing/2014/main" id="{E34EF031-B00B-4067-B571-D6AFBBC8E2E7}"/>
              </a:ext>
            </a:extLst>
          </p:cNvPr>
          <p:cNvSpPr>
            <a:spLocks xmlns:a="http://schemas.openxmlformats.org/drawingml/2006/main" noGrp="1"/>
          </p:cNvSpPr>
          <p:nvPr/>
        </p:nvSpPr>
        <p:spPr>
          <a:xfrm xmlns:a="http://schemas.openxmlformats.org/drawingml/2006/main">
            <a:off x="3381375" y="3209925"/>
            <a:ext cx="1190625" cy="400050"/>
          </a:xfrm>
          <a:prstGeom xmlns:a="http://schemas.openxmlformats.org/drawingml/2006/main" prst="leftArrow">
            <a:avLst/>
          </a:prstGeom>
          <a:solidFill xmlns:a="http://schemas.openxmlformats.org/drawingml/2006/main">
            <a:srgbClr val="35D0A1"/>
          </a:solidFill>
          <a:ln xmlns:a="http://schemas.openxmlformats.org/drawingml/2006/main" w="9525">
            <a:solidFill>
              <a:srgbClr val="35D0A1"/>
            </a:solidFill>
            <a:prstDash val="solid"/>
          </a:ln>
        </p:spPr>
      </p:sp>
      <p:sp>
        <p:nvSpPr>
          <p:cNvPr id="14" name="">
            <a:extLst xmlns:a="http://schemas.openxmlformats.org/drawingml/2006/main">
              <a:ext uri="{FF2B5EF4-FFF2-40B4-BE49-F238E27FC236}">
                <a16:creationId xmlns:a16="http://schemas.microsoft.com/office/drawing/2014/main" id="{A7B36D37-921D-4DFE-BDA7-870C4376DC70}"/>
              </a:ext>
            </a:extLst>
          </p:cNvPr>
          <p:cNvSpPr>
            <a:spLocks xmlns:a="http://schemas.openxmlformats.org/drawingml/2006/main" noGrp="1"/>
          </p:cNvSpPr>
          <p:nvPr/>
        </p:nvSpPr>
        <p:spPr>
          <a:xfrm xmlns:a="http://schemas.openxmlformats.org/drawingml/2006/main">
            <a:off x="3286125" y="373380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35D0A1"/>
                </a:solidFill>
                <a:latin typeface="Avenir Next"/>
                <a:ea typeface="Avenir Next"/>
                <a:cs typeface="Avenir Next"/>
              </a:defRPr>
            </a:pPr>
            <a:r>
              <a:rPr sz="825" b="1">
                <a:solidFill>
                  <a:srgbClr val="35D0A1"/>
                </a:solidFill>
                <a:latin typeface="Avenir Next"/>
                <a:ea typeface="Avenir Next"/>
                <a:cs typeface="Avenir Next"/>
              </a:rPr>
              <a:t>STRUCTURED ASSESSMENT</a:t>
            </a:r>
          </a:p>
        </p:txBody>
      </p:sp>
      <p:sp>
        <p:nvSpPr>
          <p:cNvPr id="15" name="">
            <a:extLst xmlns:a="http://schemas.openxmlformats.org/drawingml/2006/main">
              <a:ext uri="{FF2B5EF4-FFF2-40B4-BE49-F238E27FC236}">
                <a16:creationId xmlns:a16="http://schemas.microsoft.com/office/drawing/2014/main" id="{F1A17B84-E600-4952-AC69-ACA103AEF438}"/>
              </a:ext>
            </a:extLst>
          </p:cNvPr>
          <p:cNvSpPr>
            <a:spLocks xmlns:a="http://schemas.openxmlformats.org/drawingml/2006/main" noGrp="1"/>
          </p:cNvSpPr>
          <p:nvPr/>
        </p:nvSpPr>
        <p:spPr>
          <a:xfrm xmlns:a="http://schemas.openxmlformats.org/drawingml/2006/main">
            <a:off x="9429750" y="1952625"/>
            <a:ext cx="1905000" cy="857250"/>
          </a:xfrm>
          <a:prstGeom xmlns:a="http://schemas.openxmlformats.org/drawingml/2006/main" prst="roundRect">
            <a:avLst>
              <a:gd name="adj" fmla="val 13333"/>
            </a:avLst>
          </a:prstGeom>
          <a:solidFill xmlns:a="http://schemas.openxmlformats.org/drawingml/2006/main">
            <a:srgbClr val="141C25"/>
          </a:solidFill>
          <a:ln xmlns:a="http://schemas.openxmlformats.org/drawingml/2006/main" w="19050">
            <a:solidFill>
              <a:srgbClr val="FF9F43"/>
            </a:solidFill>
            <a:prstDash val="solid"/>
          </a:ln>
        </p:spPr>
        <p:txBody>
          <a:bodyPr xmlns:a="http://schemas.openxmlformats.org/drawingml/2006/main" wrap="square" lIns="133350" tIns="114300" rIns="133350" bIns="114300" anchor="ctr">
            <a:normAutofit fontScale="100000"/>
          </a:bodyPr>
          <a:lstStyle xmlns:a="http://schemas.openxmlformats.org/drawingml/2006/main"/>
          <a:p xmlns:a="http://schemas.openxmlformats.org/drawingml/2006/main">
            <a:pPr algn="ctr">
              <a:defRPr sz="1500" b="1">
                <a:solidFill>
                  <a:srgbClr val="E8EDF3"/>
                </a:solidFill>
                <a:latin typeface="Avenir Next"/>
                <a:ea typeface="Avenir Next"/>
                <a:cs typeface="Avenir Next"/>
              </a:defRPr>
            </a:pPr>
            <a:r>
              <a:rPr sz="1500" b="1">
                <a:solidFill>
                  <a:srgbClr val="E8EDF3"/>
                </a:solidFill>
                <a:latin typeface="Avenir Next"/>
                <a:ea typeface="Avenir Next"/>
                <a:cs typeface="Avenir Next"/>
              </a:rPr>
              <a:t>HUMAN</a:t>
            </a:r>
          </a:p>
          <a:p xmlns:a="http://schemas.openxmlformats.org/drawingml/2006/main">
            <a:pPr algn="ctr">
              <a:defRPr sz="1500" b="1">
                <a:solidFill>
                  <a:srgbClr val="E8EDF3"/>
                </a:solidFill>
                <a:latin typeface="Avenir Next"/>
                <a:ea typeface="Avenir Next"/>
                <a:cs typeface="Avenir Next"/>
              </a:defRPr>
            </a:pPr>
            <a:r>
              <a:rPr sz="1500" b="1">
                <a:solidFill>
                  <a:srgbClr val="E8EDF3"/>
                </a:solidFill>
                <a:latin typeface="Avenir Next"/>
                <a:ea typeface="Avenir Next"/>
                <a:cs typeface="Avenir Next"/>
              </a:rPr>
              <a:t>REVIEW</a:t>
            </a:r>
          </a:p>
        </p:txBody>
      </p:sp>
      <p:sp>
        <p:nvSpPr>
          <p:cNvPr id="16" name="">
            <a:extLst xmlns:a="http://schemas.openxmlformats.org/drawingml/2006/main">
              <a:ext uri="{FF2B5EF4-FFF2-40B4-BE49-F238E27FC236}">
                <a16:creationId xmlns:a16="http://schemas.microsoft.com/office/drawing/2014/main" id="{9F7D339F-2D33-4428-91A1-19F6798B6E45}"/>
              </a:ext>
            </a:extLst>
          </p:cNvPr>
          <p:cNvSpPr>
            <a:spLocks xmlns:a="http://schemas.openxmlformats.org/drawingml/2006/main" noGrp="1"/>
          </p:cNvSpPr>
          <p:nvPr/>
        </p:nvSpPr>
        <p:spPr>
          <a:xfrm xmlns:a="http://schemas.openxmlformats.org/drawingml/2006/main">
            <a:off x="9429750" y="3333750"/>
            <a:ext cx="1905000" cy="857250"/>
          </a:xfrm>
          <a:prstGeom xmlns:a="http://schemas.openxmlformats.org/drawingml/2006/main" prst="roundRect">
            <a:avLst>
              <a:gd name="adj" fmla="val 13333"/>
            </a:avLst>
          </a:prstGeom>
          <a:solidFill xmlns:a="http://schemas.openxmlformats.org/drawingml/2006/main">
            <a:srgbClr val="EF5747"/>
          </a:solidFill>
          <a:ln xmlns:a="http://schemas.openxmlformats.org/drawingml/2006/main" w="9525">
            <a:solidFill>
              <a:srgbClr val="EF5747"/>
            </a:solidFill>
            <a:prstDash val="solid"/>
          </a:ln>
        </p:spPr>
        <p:txBody>
          <a:bodyPr xmlns:a="http://schemas.openxmlformats.org/drawingml/2006/main" wrap="square" lIns="133350" tIns="114300" rIns="133350" bIns="114300" anchor="ctr">
            <a:normAutofit fontScale="100000"/>
          </a:bodyPr>
          <a:lstStyle xmlns:a="http://schemas.openxmlformats.org/drawingml/2006/main"/>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SLACK</a:t>
            </a:r>
          </a:p>
        </p:txBody>
      </p:sp>
      <p:sp>
        <p:nvSpPr>
          <p:cNvPr id="17" name="">
            <a:extLst xmlns:a="http://schemas.openxmlformats.org/drawingml/2006/main">
              <a:ext uri="{FF2B5EF4-FFF2-40B4-BE49-F238E27FC236}">
                <a16:creationId xmlns:a16="http://schemas.microsoft.com/office/drawing/2014/main" id="{98D3C849-0EA6-4276-A0A8-BDA323DD8D1F}"/>
              </a:ext>
            </a:extLst>
          </p:cNvPr>
          <p:cNvSpPr>
            <a:spLocks xmlns:a="http://schemas.openxmlformats.org/drawingml/2006/main" noGrp="1"/>
          </p:cNvSpPr>
          <p:nvPr/>
        </p:nvSpPr>
        <p:spPr>
          <a:xfrm xmlns:a="http://schemas.openxmlformats.org/drawingml/2006/main">
            <a:off x="8096250" y="2181225"/>
            <a:ext cx="1095375" cy="361950"/>
          </a:xfrm>
          <a:prstGeom xmlns:a="http://schemas.openxmlformats.org/drawingml/2006/main" prst="rightArrow">
            <a:avLst/>
          </a:prstGeom>
          <a:solidFill xmlns:a="http://schemas.openxmlformats.org/drawingml/2006/main">
            <a:srgbClr val="8D9AA8"/>
          </a:solidFill>
          <a:ln xmlns:a="http://schemas.openxmlformats.org/drawingml/2006/main" w="9525">
            <a:solidFill>
              <a:srgbClr val="8D9AA8"/>
            </a:solidFill>
            <a:prstDash val="solid"/>
          </a:ln>
        </p:spPr>
      </p:sp>
      <p:sp>
        <p:nvSpPr>
          <p:cNvPr id="18" name="">
            <a:extLst xmlns:a="http://schemas.openxmlformats.org/drawingml/2006/main">
              <a:ext uri="{FF2B5EF4-FFF2-40B4-BE49-F238E27FC236}">
                <a16:creationId xmlns:a16="http://schemas.microsoft.com/office/drawing/2014/main" id="{DA0B7B29-E794-4934-AEAF-E17571820E0C}"/>
              </a:ext>
            </a:extLst>
          </p:cNvPr>
          <p:cNvSpPr>
            <a:spLocks xmlns:a="http://schemas.openxmlformats.org/drawingml/2006/main" noGrp="1"/>
          </p:cNvSpPr>
          <p:nvPr/>
        </p:nvSpPr>
        <p:spPr>
          <a:xfrm xmlns:a="http://schemas.openxmlformats.org/drawingml/2006/main">
            <a:off x="8048625" y="1847850"/>
            <a:ext cx="1190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8D9AA8"/>
                </a:solidFill>
                <a:latin typeface="Avenir Next"/>
                <a:ea typeface="Avenir Next"/>
                <a:cs typeface="Avenir Next"/>
              </a:defRPr>
            </a:pPr>
            <a:r>
              <a:rPr sz="825" b="1">
                <a:solidFill>
                  <a:srgbClr val="8D9AA8"/>
                </a:solidFill>
                <a:latin typeface="Avenir Next"/>
                <a:ea typeface="Avenir Next"/>
                <a:cs typeface="Avenir Next"/>
              </a:rPr>
              <a:t>VALIDATED RESULT</a:t>
            </a:r>
          </a:p>
        </p:txBody>
      </p:sp>
      <p:sp>
        <p:nvSpPr>
          <p:cNvPr id="19" name="">
            <a:extLst xmlns:a="http://schemas.openxmlformats.org/drawingml/2006/main">
              <a:ext uri="{FF2B5EF4-FFF2-40B4-BE49-F238E27FC236}">
                <a16:creationId xmlns:a16="http://schemas.microsoft.com/office/drawing/2014/main" id="{7FD3677C-46E4-4281-B340-740786F87A94}"/>
              </a:ext>
            </a:extLst>
          </p:cNvPr>
          <p:cNvSpPr>
            <a:spLocks xmlns:a="http://schemas.openxmlformats.org/drawingml/2006/main" noGrp="1"/>
          </p:cNvSpPr>
          <p:nvPr/>
        </p:nvSpPr>
        <p:spPr>
          <a:xfrm xmlns:a="http://schemas.openxmlformats.org/drawingml/2006/main">
            <a:off x="10182225" y="2924175"/>
            <a:ext cx="400050" cy="304800"/>
          </a:xfrm>
          <a:prstGeom xmlns:a="http://schemas.openxmlformats.org/drawingml/2006/main" prst="downArrow">
            <a:avLst/>
          </a:prstGeom>
          <a:solidFill xmlns:a="http://schemas.openxmlformats.org/drawingml/2006/main">
            <a:srgbClr val="8D9AA8"/>
          </a:solidFill>
          <a:ln xmlns:a="http://schemas.openxmlformats.org/drawingml/2006/main" w="9525">
            <a:solidFill>
              <a:srgbClr val="8D9AA8"/>
            </a:solidFill>
            <a:prstDash val="solid"/>
          </a:ln>
        </p:spPr>
      </p:sp>
      <p:sp>
        <p:nvSpPr>
          <p:cNvPr id="20" name="">
            <a:extLst xmlns:a="http://schemas.openxmlformats.org/drawingml/2006/main">
              <a:ext uri="{FF2B5EF4-FFF2-40B4-BE49-F238E27FC236}">
                <a16:creationId xmlns:a16="http://schemas.microsoft.com/office/drawing/2014/main" id="{A919A55A-DE0E-49AF-B17B-4714E8A85B84}"/>
              </a:ext>
            </a:extLst>
          </p:cNvPr>
          <p:cNvSpPr>
            <a:spLocks xmlns:a="http://schemas.openxmlformats.org/drawingml/2006/main" noGrp="1"/>
          </p:cNvSpPr>
          <p:nvPr/>
        </p:nvSpPr>
        <p:spPr>
          <a:xfrm xmlns:a="http://schemas.openxmlformats.org/drawingml/2006/main">
            <a:off x="666750" y="485775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8D9AA8"/>
                </a:solidFill>
                <a:latin typeface="Avenir Next"/>
                <a:ea typeface="Avenir Next"/>
                <a:cs typeface="Avenir Next"/>
              </a:defRPr>
            </a:pPr>
            <a:r>
              <a:rPr sz="1050" b="1">
                <a:solidFill>
                  <a:srgbClr val="8D9AA8"/>
                </a:solidFill>
                <a:latin typeface="Avenir Next"/>
                <a:ea typeface="Avenir Next"/>
                <a:cs typeface="Avenir Next"/>
              </a:rPr>
              <a:t>CONNECTION CONTRACT</a:t>
            </a:r>
          </a:p>
        </p:txBody>
      </p:sp>
      <p:sp>
        <p:nvSpPr>
          <p:cNvPr id="21" name="">
            <a:extLst xmlns:a="http://schemas.openxmlformats.org/drawingml/2006/main">
              <a:ext uri="{FF2B5EF4-FFF2-40B4-BE49-F238E27FC236}">
                <a16:creationId xmlns:a16="http://schemas.microsoft.com/office/drawing/2014/main" id="{B4281413-90A4-4F2D-B8F8-06DC13A5FA59}"/>
              </a:ext>
            </a:extLst>
          </p:cNvPr>
          <p:cNvSpPr>
            <a:spLocks xmlns:a="http://schemas.openxmlformats.org/drawingml/2006/main" noGrp="1"/>
          </p:cNvSpPr>
          <p:nvPr/>
        </p:nvSpPr>
        <p:spPr>
          <a:xfrm xmlns:a="http://schemas.openxmlformats.org/drawingml/2006/main">
            <a:off x="666750" y="5314950"/>
            <a:ext cx="2428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9F43"/>
                </a:solidFill>
                <a:latin typeface="Avenir Next"/>
                <a:ea typeface="Avenir Next"/>
                <a:cs typeface="Avenir Next"/>
              </a:defRPr>
            </a:pPr>
            <a:r>
              <a:rPr sz="975" b="1">
                <a:solidFill>
                  <a:srgbClr val="FF9F43"/>
                </a:solidFill>
                <a:latin typeface="Avenir Next"/>
                <a:ea typeface="Avenir Next"/>
                <a:cs typeface="Avenir Next"/>
              </a:rPr>
              <a:t>IDEMPOTENCY</a:t>
            </a:r>
          </a:p>
        </p:txBody>
      </p:sp>
      <p:sp>
        <p:nvSpPr>
          <p:cNvPr id="22" name="">
            <a:extLst xmlns:a="http://schemas.openxmlformats.org/drawingml/2006/main">
              <a:ext uri="{FF2B5EF4-FFF2-40B4-BE49-F238E27FC236}">
                <a16:creationId xmlns:a16="http://schemas.microsoft.com/office/drawing/2014/main" id="{3C45322B-203B-44B1-B803-F7A3588C083E}"/>
              </a:ext>
            </a:extLst>
          </p:cNvPr>
          <p:cNvSpPr>
            <a:spLocks xmlns:a="http://schemas.openxmlformats.org/drawingml/2006/main" noGrp="1"/>
          </p:cNvSpPr>
          <p:nvPr/>
        </p:nvSpPr>
        <p:spPr>
          <a:xfrm xmlns:a="http://schemas.openxmlformats.org/drawingml/2006/main">
            <a:off x="666750" y="5619750"/>
            <a:ext cx="2428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E8EDF3"/>
                </a:solidFill>
                <a:latin typeface="Avenir Next"/>
                <a:ea typeface="Avenir Next"/>
                <a:cs typeface="Avenir Next"/>
              </a:defRPr>
            </a:pPr>
            <a:r>
              <a:rPr sz="1200" b="0">
                <a:solidFill>
                  <a:srgbClr val="E8EDF3"/>
                </a:solidFill>
                <a:latin typeface="Avenir Next"/>
                <a:ea typeface="Avenir Next"/>
                <a:cs typeface="Avenir Next"/>
              </a:rPr>
              <a:t>Request ID + card revision</a:t>
            </a:r>
          </a:p>
        </p:txBody>
      </p:sp>
      <p:sp>
        <p:nvSpPr>
          <p:cNvPr id="23" name="">
            <a:extLst xmlns:a="http://schemas.openxmlformats.org/drawingml/2006/main">
              <a:ext uri="{FF2B5EF4-FFF2-40B4-BE49-F238E27FC236}">
                <a16:creationId xmlns:a16="http://schemas.microsoft.com/office/drawing/2014/main" id="{EA98E9DB-2DC0-4EB5-BD5D-DC5B4C27DB48}"/>
              </a:ext>
            </a:extLst>
          </p:cNvPr>
          <p:cNvSpPr>
            <a:spLocks xmlns:a="http://schemas.openxmlformats.org/drawingml/2006/main" noGrp="1"/>
          </p:cNvSpPr>
          <p:nvPr/>
        </p:nvSpPr>
        <p:spPr>
          <a:xfrm xmlns:a="http://schemas.openxmlformats.org/drawingml/2006/main">
            <a:off x="3190875" y="5257800"/>
            <a:ext cx="9525" cy="9525"/>
          </a:xfrm>
          <a:prstGeom xmlns:a="http://schemas.openxmlformats.org/drawingml/2006/main" prst="line">
            <a:avLst/>
          </a:prstGeom>
          <a:noFill xmlns:a="http://schemas.openxmlformats.org/drawingml/2006/main"/>
          <a:ln xmlns:a="http://schemas.openxmlformats.org/drawingml/2006/main" w="19050">
            <a:solidFill>
              <a:srgbClr val="2A343F"/>
            </a:solidFill>
            <a:prstDash val="solid"/>
          </a:ln>
        </p:spPr>
      </p:sp>
      <p:sp>
        <p:nvSpPr>
          <p:cNvPr id="24" name="">
            <a:extLst xmlns:a="http://schemas.openxmlformats.org/drawingml/2006/main">
              <a:ext uri="{FF2B5EF4-FFF2-40B4-BE49-F238E27FC236}">
                <a16:creationId xmlns:a16="http://schemas.microsoft.com/office/drawing/2014/main" id="{0F716873-95DD-45EE-833D-47CCDA0B34C9}"/>
              </a:ext>
            </a:extLst>
          </p:cNvPr>
          <p:cNvSpPr>
            <a:spLocks xmlns:a="http://schemas.openxmlformats.org/drawingml/2006/main" noGrp="1"/>
          </p:cNvSpPr>
          <p:nvPr/>
        </p:nvSpPr>
        <p:spPr>
          <a:xfrm xmlns:a="http://schemas.openxmlformats.org/drawingml/2006/main">
            <a:off x="3381375" y="5314950"/>
            <a:ext cx="2428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9F43"/>
                </a:solidFill>
                <a:latin typeface="Avenir Next"/>
                <a:ea typeface="Avenir Next"/>
                <a:cs typeface="Avenir Next"/>
              </a:defRPr>
            </a:pPr>
            <a:r>
              <a:rPr sz="975" b="1">
                <a:solidFill>
                  <a:srgbClr val="FF9F43"/>
                </a:solidFill>
                <a:latin typeface="Avenir Next"/>
                <a:ea typeface="Avenir Next"/>
                <a:cs typeface="Avenir Next"/>
              </a:rPr>
              <a:t>BOUNDED CONTEXT</a:t>
            </a:r>
          </a:p>
        </p:txBody>
      </p:sp>
      <p:sp>
        <p:nvSpPr>
          <p:cNvPr id="25" name="">
            <a:extLst xmlns:a="http://schemas.openxmlformats.org/drawingml/2006/main">
              <a:ext uri="{FF2B5EF4-FFF2-40B4-BE49-F238E27FC236}">
                <a16:creationId xmlns:a16="http://schemas.microsoft.com/office/drawing/2014/main" id="{1B0305A9-C686-45F8-B047-185246DAABB4}"/>
              </a:ext>
            </a:extLst>
          </p:cNvPr>
          <p:cNvSpPr>
            <a:spLocks xmlns:a="http://schemas.openxmlformats.org/drawingml/2006/main" noGrp="1"/>
          </p:cNvSpPr>
          <p:nvPr/>
        </p:nvSpPr>
        <p:spPr>
          <a:xfrm xmlns:a="http://schemas.openxmlformats.org/drawingml/2006/main">
            <a:off x="3381375" y="5619750"/>
            <a:ext cx="2428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E8EDF3"/>
                </a:solidFill>
                <a:latin typeface="Avenir Next"/>
                <a:ea typeface="Avenir Next"/>
                <a:cs typeface="Avenir Next"/>
              </a:defRPr>
            </a:pPr>
            <a:r>
              <a:rPr sz="1200" b="0">
                <a:solidFill>
                  <a:srgbClr val="E8EDF3"/>
                </a:solidFill>
                <a:latin typeface="Avenir Next"/>
                <a:ea typeface="Avenir Next"/>
                <a:cs typeface="Avenir Next"/>
              </a:rPr>
              <a:t>Stored evidence IDs only</a:t>
            </a:r>
          </a:p>
        </p:txBody>
      </p:sp>
      <p:sp>
        <p:nvSpPr>
          <p:cNvPr id="26" name="">
            <a:extLst xmlns:a="http://schemas.openxmlformats.org/drawingml/2006/main">
              <a:ext uri="{FF2B5EF4-FFF2-40B4-BE49-F238E27FC236}">
                <a16:creationId xmlns:a16="http://schemas.microsoft.com/office/drawing/2014/main" id="{71CB8566-AC13-4A8A-8FAA-64F2882A85AC}"/>
              </a:ext>
            </a:extLst>
          </p:cNvPr>
          <p:cNvSpPr>
            <a:spLocks xmlns:a="http://schemas.openxmlformats.org/drawingml/2006/main" noGrp="1"/>
          </p:cNvSpPr>
          <p:nvPr/>
        </p:nvSpPr>
        <p:spPr>
          <a:xfrm xmlns:a="http://schemas.openxmlformats.org/drawingml/2006/main">
            <a:off x="5905500" y="5257800"/>
            <a:ext cx="9525" cy="9525"/>
          </a:xfrm>
          <a:prstGeom xmlns:a="http://schemas.openxmlformats.org/drawingml/2006/main" prst="line">
            <a:avLst/>
          </a:prstGeom>
          <a:noFill xmlns:a="http://schemas.openxmlformats.org/drawingml/2006/main"/>
          <a:ln xmlns:a="http://schemas.openxmlformats.org/drawingml/2006/main" w="19050">
            <a:solidFill>
              <a:srgbClr val="2A343F"/>
            </a:solidFill>
            <a:prstDash val="solid"/>
          </a:ln>
        </p:spPr>
      </p:sp>
      <p:sp>
        <p:nvSpPr>
          <p:cNvPr id="27" name="">
            <a:extLst xmlns:a="http://schemas.openxmlformats.org/drawingml/2006/main">
              <a:ext uri="{FF2B5EF4-FFF2-40B4-BE49-F238E27FC236}">
                <a16:creationId xmlns:a16="http://schemas.microsoft.com/office/drawing/2014/main" id="{50083EFD-FB0D-4A85-AD50-F0C60A11F415}"/>
              </a:ext>
            </a:extLst>
          </p:cNvPr>
          <p:cNvSpPr>
            <a:spLocks xmlns:a="http://schemas.openxmlformats.org/drawingml/2006/main" noGrp="1"/>
          </p:cNvSpPr>
          <p:nvPr/>
        </p:nvSpPr>
        <p:spPr>
          <a:xfrm xmlns:a="http://schemas.openxmlformats.org/drawingml/2006/main">
            <a:off x="6096000" y="5314950"/>
            <a:ext cx="2428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55C8D0"/>
                </a:solidFill>
                <a:latin typeface="Avenir Next"/>
                <a:ea typeface="Avenir Next"/>
                <a:cs typeface="Avenir Next"/>
              </a:defRPr>
            </a:pPr>
            <a:r>
              <a:rPr sz="975" b="1">
                <a:solidFill>
                  <a:srgbClr val="55C8D0"/>
                </a:solidFill>
                <a:latin typeface="Avenir Next"/>
                <a:ea typeface="Avenir Next"/>
                <a:cs typeface="Avenir Next"/>
              </a:rPr>
              <a:t>STRUCTURED RESULT</a:t>
            </a:r>
          </a:p>
        </p:txBody>
      </p:sp>
      <p:sp>
        <p:nvSpPr>
          <p:cNvPr id="28" name="">
            <a:extLst xmlns:a="http://schemas.openxmlformats.org/drawingml/2006/main">
              <a:ext uri="{FF2B5EF4-FFF2-40B4-BE49-F238E27FC236}">
                <a16:creationId xmlns:a16="http://schemas.microsoft.com/office/drawing/2014/main" id="{751E8CCE-C24F-4109-B446-80EEDBCB4132}"/>
              </a:ext>
            </a:extLst>
          </p:cNvPr>
          <p:cNvSpPr>
            <a:spLocks xmlns:a="http://schemas.openxmlformats.org/drawingml/2006/main" noGrp="1"/>
          </p:cNvSpPr>
          <p:nvPr/>
        </p:nvSpPr>
        <p:spPr>
          <a:xfrm xmlns:a="http://schemas.openxmlformats.org/drawingml/2006/main">
            <a:off x="6096000" y="5619750"/>
            <a:ext cx="2428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E8EDF3"/>
                </a:solidFill>
                <a:latin typeface="Avenir Next"/>
                <a:ea typeface="Avenir Next"/>
                <a:cs typeface="Avenir Next"/>
              </a:defRPr>
            </a:pPr>
            <a:r>
              <a:rPr sz="1200" b="0">
                <a:solidFill>
                  <a:srgbClr val="E8EDF3"/>
                </a:solidFill>
                <a:latin typeface="Avenir Next"/>
                <a:ea typeface="Avenir Next"/>
                <a:cs typeface="Avenir Next"/>
              </a:rPr>
              <a:t>Verdict + rationale + confidence</a:t>
            </a:r>
          </a:p>
        </p:txBody>
      </p:sp>
      <p:sp>
        <p:nvSpPr>
          <p:cNvPr id="29" name="">
            <a:extLst xmlns:a="http://schemas.openxmlformats.org/drawingml/2006/main">
              <a:ext uri="{FF2B5EF4-FFF2-40B4-BE49-F238E27FC236}">
                <a16:creationId xmlns:a16="http://schemas.microsoft.com/office/drawing/2014/main" id="{99F4BAF2-8E07-4BA1-BD08-C9DC547AC022}"/>
              </a:ext>
            </a:extLst>
          </p:cNvPr>
          <p:cNvSpPr>
            <a:spLocks xmlns:a="http://schemas.openxmlformats.org/drawingml/2006/main" noGrp="1"/>
          </p:cNvSpPr>
          <p:nvPr/>
        </p:nvSpPr>
        <p:spPr>
          <a:xfrm xmlns:a="http://schemas.openxmlformats.org/drawingml/2006/main">
            <a:off x="8620125" y="5257800"/>
            <a:ext cx="9525" cy="9525"/>
          </a:xfrm>
          <a:prstGeom xmlns:a="http://schemas.openxmlformats.org/drawingml/2006/main" prst="line">
            <a:avLst/>
          </a:prstGeom>
          <a:noFill xmlns:a="http://schemas.openxmlformats.org/drawingml/2006/main"/>
          <a:ln xmlns:a="http://schemas.openxmlformats.org/drawingml/2006/main" w="19050">
            <a:solidFill>
              <a:srgbClr val="2A343F"/>
            </a:solidFill>
            <a:prstDash val="solid"/>
          </a:ln>
        </p:spPr>
      </p:sp>
      <p:sp>
        <p:nvSpPr>
          <p:cNvPr id="30" name="">
            <a:extLst xmlns:a="http://schemas.openxmlformats.org/drawingml/2006/main">
              <a:ext uri="{FF2B5EF4-FFF2-40B4-BE49-F238E27FC236}">
                <a16:creationId xmlns:a16="http://schemas.microsoft.com/office/drawing/2014/main" id="{8B8758C6-0F63-49BC-9489-94DC441AAEF4}"/>
              </a:ext>
            </a:extLst>
          </p:cNvPr>
          <p:cNvSpPr>
            <a:spLocks xmlns:a="http://schemas.openxmlformats.org/drawingml/2006/main" noGrp="1"/>
          </p:cNvSpPr>
          <p:nvPr/>
        </p:nvSpPr>
        <p:spPr>
          <a:xfrm xmlns:a="http://schemas.openxmlformats.org/drawingml/2006/main">
            <a:off x="8810625" y="5314950"/>
            <a:ext cx="2428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55C8D0"/>
                </a:solidFill>
                <a:latin typeface="Avenir Next"/>
                <a:ea typeface="Avenir Next"/>
                <a:cs typeface="Avenir Next"/>
              </a:defRPr>
            </a:pPr>
            <a:r>
              <a:rPr sz="975" b="1">
                <a:solidFill>
                  <a:srgbClr val="55C8D0"/>
                </a:solidFill>
                <a:latin typeface="Avenir Next"/>
                <a:ea typeface="Avenir Next"/>
                <a:cs typeface="Avenir Next"/>
              </a:rPr>
              <a:t>BACKEND CONTROL</a:t>
            </a:r>
          </a:p>
        </p:txBody>
      </p:sp>
      <p:sp>
        <p:nvSpPr>
          <p:cNvPr id="31" name="">
            <a:extLst xmlns:a="http://schemas.openxmlformats.org/drawingml/2006/main">
              <a:ext uri="{FF2B5EF4-FFF2-40B4-BE49-F238E27FC236}">
                <a16:creationId xmlns:a16="http://schemas.microsoft.com/office/drawing/2014/main" id="{BF5CD14F-5AFB-48D5-9938-C086AE7ACFF9}"/>
              </a:ext>
            </a:extLst>
          </p:cNvPr>
          <p:cNvSpPr>
            <a:spLocks xmlns:a="http://schemas.openxmlformats.org/drawingml/2006/main" noGrp="1"/>
          </p:cNvSpPr>
          <p:nvPr/>
        </p:nvSpPr>
        <p:spPr>
          <a:xfrm xmlns:a="http://schemas.openxmlformats.org/drawingml/2006/main">
            <a:off x="8810625" y="5619750"/>
            <a:ext cx="2428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E8EDF3"/>
                </a:solidFill>
                <a:latin typeface="Avenir Next"/>
                <a:ea typeface="Avenir Next"/>
                <a:cs typeface="Avenir Next"/>
              </a:defRPr>
            </a:pPr>
            <a:r>
              <a:rPr sz="1200" b="0">
                <a:solidFill>
                  <a:srgbClr val="E8EDF3"/>
                </a:solidFill>
                <a:latin typeface="Avenir Next"/>
                <a:ea typeface="Avenir Next"/>
                <a:cs typeface="Avenir Next"/>
              </a:rPr>
              <a:t>Validate, persist, then notify</a:t>
            </a:r>
          </a:p>
        </p:txBody>
      </p:sp>
      <p:sp>
        <p:nvSpPr>
          <p:cNvPr id="32" name="">
            <a:extLst xmlns:a="http://schemas.openxmlformats.org/drawingml/2006/main">
              <a:ext uri="{FF2B5EF4-FFF2-40B4-BE49-F238E27FC236}">
                <a16:creationId xmlns:a16="http://schemas.microsoft.com/office/drawing/2014/main" id="{82773A3E-0DC6-4785-A259-84E2E2963F1E}"/>
              </a:ext>
            </a:extLst>
          </p:cNvPr>
          <p:cNvSpPr>
            <a:spLocks xmlns:a="http://schemas.openxmlformats.org/drawingml/2006/main" noGrp="1"/>
          </p:cNvSpPr>
          <p:nvPr/>
        </p:nvSpPr>
        <p:spPr>
          <a:xfrm xmlns:a="http://schemas.openxmlformats.org/drawingml/2006/main">
            <a:off x="590550" y="6553200"/>
            <a:ext cx="6858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8D9AA8"/>
                </a:solidFill>
                <a:latin typeface="Avenir Next"/>
                <a:ea typeface="Avenir Next"/>
                <a:cs typeface="Avenir Next"/>
              </a:defRPr>
            </a:pPr>
            <a:r>
              <a:rPr sz="750" b="1">
                <a:solidFill>
                  <a:srgbClr val="8D9AA8"/>
                </a:solidFill>
                <a:latin typeface="Avenir Next"/>
                <a:ea typeface="Avenir Next"/>
                <a:cs typeface="Avenir Next"/>
              </a:rPr>
              <a:t>CURRENT BRIDGE: ONE-WAY CRITICAL JSON SENDER / PLANNED: VALIDATED INVESTIGATION ROUND TRIP</a:t>
            </a:r>
          </a:p>
        </p:txBody>
      </p:sp>
    </p:spTree>
    <p:extLst>
      <p:ext uri="{BB962C8B-B14F-4D97-AF65-F5344CB8AC3E}">
        <p14:creationId xmlns:p14="http://schemas.microsoft.com/office/powerpoint/2010/main" val="10047857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2026-10-03T21:05:18.7600000Z</dcterms:created>
  <dcterms:modified xsi:type="dcterms:W3CDTF">2026-10-03T21:05:18.7600000Z</dcterms:modified>
</coreProperties>
</file>